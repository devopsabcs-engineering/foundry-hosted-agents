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1-6, task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pilot: working chat and verified releases
Entra tenant + pilot group
Authenticated React / FastAPI chat; public HTTPS, not a private-network deployment.
Full-history requests
Backend-owned user/assistant turns, store:false; no native conversation or previous_response_id.
Verified release and load
Release 34427432731 and Continuous Validation 34427429700 succeeded. Synthetic security data only.
Demo controls populate the draft; Send initiates the authenticated request. Start a new assessment for each independent scenario. Scenarios use exact reviewed English fixture prompts in both language tracks. Source: apps/web-chat/frontend/src/samples.js, src/threat-assessment-agent/graph.py, scripts/invoke-agent.sh, .github/workflows/deploy-and-evaluate.yml. https://github.com/devopsabcs-engineering/foundry-hosted-agents/actions/runs/34427432731
Load: https://github.com/devopsabcs-engineering/foundry-hosted-agents/actions/runs/34427429700
Historical artifact slides that follow retain their original run and version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three scenarios, four MCP tools
1 / Suspicious crew-admin login
CREW-PORTAL-01 + crew-admin: correlate MFA failures and success; expect escalation with evidence limits.
2 / Approved employee travel
JDOE-LT-01 + jdoe: reconcile travel and known device; do not invent a compromise.
3 / Conflicting egress signals
OPS-DB-02 + data_egress_mb_per_hour: 900: compare clean endpoint with network anomaly; surface the conflict.
Suspicious crew-admin login
Suspicious login from unknown IP 203.0.113.45 targeting the crew-scheduling admin portal at 02:14 UTC, followed by three failed MFA attempts and a successful login four minutes later from the same IP. Synthetic scenario identifiers: device ID CREW-PORTAL-01, account/user ID crew-admin.
Expected tools: get_device_risk, list_vulnerabilities, detect_login_anomalies
Approved employee travel
Login alert for employee jdoe from IP 198.51.100.22, a country the employee has not logged in from before. Employee's calendar shows an approved business trip to that country starting yesterday, and the device fingerprint matches jdoe's enrolled corporate laptop. Synthetic scenario device ID: JDOE-LT-01; account/user ID: jdoe.
Expected tools: get_device_risk, list_vulnerabilities, detect_login_anomalies
Conflicting egress signals
Defender reports host OPS-DB-02 as clean with no active alerts, but the anomaly-detection tool independently scores the same host's outbound traffic pattern in the 99th percentile for data-exfiltration risk over the past hour. Synthetic scenario device ID: OPS-DB-02. Observed metric data_egress_mb_per_hour: 900 MB over the past hour; the 99th percentile is a separate reported signal, not a traffic measurement.
Expected tools: get_device_risk, list_vulnerabilities, score_anomaly
Demo controls populate the draft; Send initiates the authenticated request. Start a new assessment for each independent scenario. Scenarios use exact reviewed English fixture prompts in both language tracks. Source: apps/web-chat/frontend/src/samples.js, src/threat-assessment-agent/graph.py, scripts/invoke-agent.sh, .github/workflows/deploy-and-evaluate.yml. https://github.com/devopsabcs-engineering/foundry-hosted-agents/actions/runs/34427432731
Load: https://github.com/devopsabcs-engineering/foundry-hosted-agents/actions/runs/34427429700
Historical artifact slides that follow retain their original run and version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Conversation memory: explicit, bounded, owner-scoped
Recall in the same assessment
Add reference DEMO-73921, then ask for it without repeating it. All three specialists receive the supplied history.
Isolation and retry boundaries
A new assessment must not recall that reference. Completed identical message retries replay; changed text with the same key conflicts.
No durable history claim
Owner-bound in-memory sessions expire; restart loses server state and browser reload loses the local list. No Cosmos, Teams, or durable exactly-once guarantee.
Demo controls populate the draft; Send initiates the authenticated request. Start a new assessment for each independent scenario. Scenarios use exact reviewed English fixture prompts in both language tracks. Source: apps/web-chat/frontend/src/samples.js, src/threat-assessment-agent/graph.py, scripts/invoke-agent.sh, .github/workflows/deploy-and-evaluate.yml. https://github.com/devopsabcs-engineering/foundry-hosted-agents/actions/runs/34427432731
Load: https://github.com/devopsabcs-engineering/foundry-hosted-agents/actions/runs/34427429700
Historical artifact slides that follow retain their original run and version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execution is evidence, not model prose
Deterministic lookup plan
Explicit user device/account/metric fields select real read-only MCP calls. Omitted fields retain prior context; new values replace that category.
Strict specialist permissions
Investigator: get_device_risk + list_vulnerabilities. Analyst: detect_login_anomalies + score_anomaly. Composer: no tools.
Validate actual receipts
Successful ToolMessage results become bounded response metadata. Synthetic fixtures and unavailable vulnerability telemetry must remain visible limitations.
Demo controls populate the draft; Send initiates the authenticated request. Start a new assessment for each independent scenario. Scenarios use exact reviewed English fixture prompts in both language tracks. Source: apps/web-chat/frontend/src/samples.js, src/threat-assessment-agent/graph.py, scripts/invoke-agent.sh, .github/workflows/deploy-and-evaluate.yml. https://github.com/devopsabcs-engineering/foundry-hosted-agents/actions/runs/34427432731
Load: https://github.com/devopsabcs-engineering/foundry-hosted-agents/actions/runs/34427429700
Historical artifact slides that follow retain their original run and version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operations: approval, telemetry, capacity
Approve the release, then monitoring
Both protected jobs use production approval. Continuous Validation queues behind the shared environment lock; it needs no manual approval.
Positive ingestion before zero exceptions
Correlate the raw response ID with AppTraces, then check AppExceptions. Empty or invalid query results fail; zero exceptions alone is insufficient.
Staging 50k TPM / production 10k TPM
Three load failures in 34424723263 correlated with model 429s. Approved staging-only increase; unchanged five-stream gate subsequently passed. Not an SLA or saturation test.
Demo controls populate the draft; Send initiates the authenticated request. Start a new assessment for each independent scenario. Scenarios use exact reviewed English fixture prompts in both language tracks. Source: apps/web-chat/frontend/src/samples.js, src/threat-assessment-agent/graph.py, scripts/invoke-agent.sh, .github/workflows/deploy-and-evaluate.yml. https://github.com/devopsabcs-engineering/foundry-hosted-agents/actions/runs/34427432731
Load: https://github.com/devopsabcs-engineering/foundry-hosted-agents/actions/runs/34427429700
Historical artifact slides that follow retain their original run and version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release jobs succeeded; recovery skipped. Staging 6; production 33 to 34. Both production gates used normal reviewer approval. PoC environment, not enterprise production certification.
Source: https://github.com/devopsabcs-engineering/foundry-hosted-agents/actions/runs/34178081808
Evidence: assets/release-evidence/source; SHA-256 manifest: assets/release-evidence/manifest.json. Images render downloaded artifacts, not native portal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captures; seven reports judged on coherence, groundedness, task adherence. All 21 passed at unchanged 100% thresholds. inject-001: deterministic safety refusal with no tools, not a judge pass. Zero policy failures. Incomplete output is retried, not rescored.
Source: https://github.com/devopsabcs-engineering/foundry-hosted-agents/actions/runs/34178081808
Evidence: assets/release-evidence/source; SHA-256 manifest: assets/release-evidence/manifest.json. Images render downloaded artifacts, not native portal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ToolMessage-derived receipts. tp-001 shows both Defender and both Anomaly tools. Receipts prove execution, not semantic correctness. Synthetic fixtures are not live Defender or airline telemetry. Safety case: no further tools. Bounded evidence attached to response.completed.
Source: https://github.com/devopsabcs-engineering/foundry-hosted-agents/actions/runs/34178081808
Evidence: assets/release-evidence/source; SHA-256 manifest: assets/release-evidence/manifest.json. Images render downloaded artifacts, not native portal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34 active, toolbox 1. Exact-version smoke succeeded. At 02:12:02 UTC AppExceptions for the trailing ten minutes returned zero. Not a ten-minute soak or complete tracing proof. Quality suite ran on staging. Production rebuilds the same source with evaluated MCP digests. Manual recovery; no automatic rollback or canary.
Source: https://github.com/devopsabcs-engineering/foundry-hosted-agents/actions/runs/34178081808
Evidence: assets/release-evidence/source; SHA-256 manifest: assets/release-evidence/manifest.json. Images render downloaded artifacts, not native portal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535-537, 5, 420, 27-32)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538-539, 572-583)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326-421, 489-506)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 418, Lines 394-416, Lines 469-475)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420-437, 386-388, 559)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424-430)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313-320, 373-400, 556-557)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388, 570, 576-579, 620)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assets/release-evidence/source/results.json; eval/run_hosted_evaluation.py; eval/evaluation_gate.py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.github/workflows/deploy-and-evaluate.yml; scripts/record-production-version.sh; Actions 34178081808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300-306, 568, 576)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572-611)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489-506)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489-506)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489-506)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554-570)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554-570)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578-579, 570)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510-513, 298)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609-610, 577)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300-307)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313-320)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5, 296, 356-369, 554-570)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615-618)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619-624); release 34178081808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research.md (Lines 619-624); release 34178081808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devopsabcs-engineering/foundry-hosted-agents/actions/runs/34427432731"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devopsabcs-engineering/foundry-hosted-agents/actions/runs/34427432731"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devopsabcs-engineering/foundry-hosted-agents/actions/runs/34427432731"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devopsabcs-engineering/foundry-hosted-agents/actions/runs/34427432731"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devopsabcs-engineering/foundry-hosted-agents/actions/runs/34427432731"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devopsabcs-engineering/foundry-hosted-agents/actions/runs/34178081808"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devopsabcs-engineering/foundry-hosted-agents/actions/runs/34178081808"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devopsabcs-engineering/foundry-hosted-agents/actions/runs/34178081808"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devopsabcs-engineering/foundry-hosted-agents/actions/runs/34178081808"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B3D"/>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00B7C3"/>
          </a:solidFill>
          <a:ln/>
        </p:spPr>
      </p:sp>
      <p:sp>
        <p:nvSpPr>
          <p:cNvPr id="3" name="Text 1"/>
          <p:cNvSpPr/>
          <p:nvPr/>
        </p:nvSpPr>
        <p:spPr>
          <a:xfrm>
            <a:off x="822960" y="1965960"/>
            <a:ext cx="10515600" cy="502920"/>
          </a:xfrm>
          <a:prstGeom prst="rect">
            <a:avLst/>
          </a:prstGeom>
          <a:noFill/>
          <a:ln/>
        </p:spPr>
        <p:txBody>
          <a:bodyPr wrap="square" rtlCol="0" anchor="ctr"/>
          <a:lstStyle/>
          <a:p>
            <a:pPr indent="0" marL="0">
              <a:buNone/>
            </a:pPr>
            <a:r>
              <a:rPr lang="en-US" sz="2200" b="1" spc="200" kern="0" dirty="0">
                <a:solidFill>
                  <a:srgbClr val="00B7C3"/>
                </a:solidFill>
                <a:latin typeface="Segoe UI" pitchFamily="34" charset="0"/>
                <a:ea typeface="Segoe UI" pitchFamily="34" charset="-122"/>
                <a:cs typeface="Segoe UI" pitchFamily="34" charset="-120"/>
              </a:rPr>
              <a:t>Air Canada</a:t>
            </a:r>
            <a:endParaRPr lang="en-US" sz="2200" dirty="0"/>
          </a:p>
        </p:txBody>
      </p:sp>
      <p:sp>
        <p:nvSpPr>
          <p:cNvPr id="4" name="Text 2"/>
          <p:cNvSpPr/>
          <p:nvPr/>
        </p:nvSpPr>
        <p:spPr>
          <a:xfrm>
            <a:off x="822960" y="2423160"/>
            <a:ext cx="10515600" cy="118872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Foundry Hosted Agents Decision and Multi-Agent PoC</a:t>
            </a:r>
            <a:endParaRPr lang="en-US" sz="4000" dirty="0"/>
          </a:p>
        </p:txBody>
      </p:sp>
      <p:sp>
        <p:nvSpPr>
          <p:cNvPr id="5" name="Text 3"/>
          <p:cNvSpPr/>
          <p:nvPr/>
        </p:nvSpPr>
        <p:spPr>
          <a:xfrm>
            <a:off x="822960" y="3611880"/>
            <a:ext cx="10515600" cy="548640"/>
          </a:xfrm>
          <a:prstGeom prst="rect">
            <a:avLst/>
          </a:prstGeom>
          <a:noFill/>
          <a:ln/>
        </p:spPr>
        <p:txBody>
          <a:bodyPr wrap="square" rtlCol="0" anchor="ctr"/>
          <a:lstStyle/>
          <a:p>
            <a:pPr indent="0" marL="0">
              <a:buNone/>
            </a:pPr>
            <a:r>
              <a:rPr lang="en-US" sz="1600" dirty="0">
                <a:solidFill>
                  <a:srgbClr val="E1EFFF"/>
                </a:solidFill>
                <a:latin typeface="Segoe UI" pitchFamily="34" charset="0"/>
                <a:ea typeface="Segoe UI" pitchFamily="34" charset="-122"/>
                <a:cs typeface="Segoe UI" pitchFamily="34" charset="-120"/>
              </a:rPr>
              <a:t>Executive decision deck — LangGraph hosting options, phased PoC recommendation, and production-readiness gates</a:t>
            </a:r>
            <a:endParaRPr lang="en-US" sz="1600" dirty="0"/>
          </a:p>
        </p:txBody>
      </p:sp>
      <p:sp>
        <p:nvSpPr>
          <p:cNvPr id="6" name="Shape 4"/>
          <p:cNvSpPr/>
          <p:nvPr/>
        </p:nvSpPr>
        <p:spPr>
          <a:xfrm>
            <a:off x="822960" y="4297680"/>
            <a:ext cx="3840480" cy="18288"/>
          </a:xfrm>
          <a:prstGeom prst="rect">
            <a:avLst/>
          </a:prstGeom>
          <a:solidFill>
            <a:srgbClr val="00B7C3"/>
          </a:solidFill>
          <a:ln/>
        </p:spPr>
      </p:sp>
      <p:sp>
        <p:nvSpPr>
          <p:cNvPr id="7" name="Text 5"/>
          <p:cNvSpPr/>
          <p:nvPr/>
        </p:nvSpPr>
        <p:spPr>
          <a:xfrm>
            <a:off x="822960" y="6309360"/>
            <a:ext cx="10515600" cy="365760"/>
          </a:xfrm>
          <a:prstGeom prst="rect">
            <a:avLst/>
          </a:prstGeom>
          <a:noFill/>
          <a:ln/>
        </p:spPr>
        <p:txBody>
          <a:bodyPr wrap="square" rtlCol="0" anchor="ctr"/>
          <a:lstStyle/>
          <a:p>
            <a:pPr indent="0" marL="0">
              <a:buNone/>
            </a:pPr>
            <a:r>
              <a:rPr lang="en-US" sz="1100" i="1" dirty="0">
                <a:solidFill>
                  <a:srgbClr val="E1EFFF"/>
                </a:solidFill>
                <a:latin typeface="Segoe UI" pitchFamily="34" charset="0"/>
                <a:ea typeface="Segoe UI" pitchFamily="34" charset="-122"/>
                <a:cs typeface="Segoe UI" pitchFamily="34" charset="-120"/>
              </a:rPr>
              <a:t>Verified release: 2026-09-08 UTC | WI-11 resolved | staging 6 / production 34 | synthetic PoC data</a:t>
            </a:r>
            <a:endParaRPr lang="en-US" sz="1100" dirty="0"/>
          </a:p>
        </p:txBody>
      </p:sp>
      <p:sp>
        <p:nvSpPr>
          <p:cNvPr id="8" name="Shape 6"/>
          <p:cNvSpPr/>
          <p:nvPr/>
        </p:nvSpPr>
        <p:spPr>
          <a:xfrm>
            <a:off x="822960" y="5934456"/>
            <a:ext cx="128016" cy="128016"/>
          </a:xfrm>
          <a:prstGeom prst="ellipse">
            <a:avLst/>
          </a:prstGeom>
          <a:solidFill>
            <a:srgbClr val="107C10"/>
          </a:solidFill>
          <a:ln/>
        </p:spPr>
      </p:sp>
      <p:sp>
        <p:nvSpPr>
          <p:cNvPr id="9" name="Text 7"/>
          <p:cNvSpPr/>
          <p:nvPr/>
        </p:nvSpPr>
        <p:spPr>
          <a:xfrm>
            <a:off x="1005840" y="5897880"/>
            <a:ext cx="2400300" cy="219456"/>
          </a:xfrm>
          <a:prstGeom prst="rect">
            <a:avLst/>
          </a:prstGeom>
          <a:noFill/>
          <a:ln/>
        </p:spPr>
        <p:txBody>
          <a:bodyPr wrap="square" rtlCol="0" anchor="ctr"/>
          <a:lstStyle/>
          <a:p>
            <a:pPr indent="0" marL="0">
              <a:buNone/>
            </a:pPr>
            <a:r>
              <a:rPr lang="en-US" sz="900" b="1" dirty="0">
                <a:solidFill>
                  <a:srgbClr val="107C10"/>
                </a:solidFill>
                <a:latin typeface="Segoe UI" pitchFamily="34" charset="0"/>
                <a:ea typeface="Segoe UI" pitchFamily="34" charset="-122"/>
                <a:cs typeface="Segoe UI" pitchFamily="34" charset="-120"/>
              </a:rPr>
              <a:t>CONFIRMED</a:t>
            </a:r>
            <a:endParaRPr lang="en-US" sz="900" dirty="0"/>
          </a:p>
        </p:txBody>
      </p:sp>
      <p:sp>
        <p:nvSpPr>
          <p:cNvPr id="10" name="Shape 8"/>
          <p:cNvSpPr/>
          <p:nvPr/>
        </p:nvSpPr>
        <p:spPr>
          <a:xfrm>
            <a:off x="3451860" y="5934456"/>
            <a:ext cx="128016" cy="128016"/>
          </a:xfrm>
          <a:prstGeom prst="ellipse">
            <a:avLst/>
          </a:prstGeom>
          <a:solidFill>
            <a:srgbClr val="0078D4"/>
          </a:solidFill>
          <a:ln/>
        </p:spPr>
      </p:sp>
      <p:sp>
        <p:nvSpPr>
          <p:cNvPr id="11" name="Text 9"/>
          <p:cNvSpPr/>
          <p:nvPr/>
        </p:nvSpPr>
        <p:spPr>
          <a:xfrm>
            <a:off x="3634740" y="5897880"/>
            <a:ext cx="2400300" cy="219456"/>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PREVIEW</a:t>
            </a:r>
            <a:endParaRPr lang="en-US" sz="900" dirty="0"/>
          </a:p>
        </p:txBody>
      </p:sp>
      <p:sp>
        <p:nvSpPr>
          <p:cNvPr id="12" name="Shape 10"/>
          <p:cNvSpPr/>
          <p:nvPr/>
        </p:nvSpPr>
        <p:spPr>
          <a:xfrm>
            <a:off x="6080760" y="5934456"/>
            <a:ext cx="128016" cy="128016"/>
          </a:xfrm>
          <a:prstGeom prst="ellipse">
            <a:avLst/>
          </a:prstGeom>
          <a:solidFill>
            <a:srgbClr val="5C2D91"/>
          </a:solidFill>
          <a:ln/>
        </p:spPr>
      </p:sp>
      <p:sp>
        <p:nvSpPr>
          <p:cNvPr id="13" name="Text 11"/>
          <p:cNvSpPr/>
          <p:nvPr/>
        </p:nvSpPr>
        <p:spPr>
          <a:xfrm>
            <a:off x="6263640" y="5897880"/>
            <a:ext cx="2400300" cy="219456"/>
          </a:xfrm>
          <a:prstGeom prst="rect">
            <a:avLst/>
          </a:prstGeom>
          <a:noFill/>
          <a:ln/>
        </p:spPr>
        <p:txBody>
          <a:bodyPr wrap="square" rtlCol="0" anchor="ctr"/>
          <a:lstStyle/>
          <a:p>
            <a:pPr indent="0" marL="0">
              <a:buNone/>
            </a:pPr>
            <a:r>
              <a:rPr lang="en-US" sz="900" b="1" dirty="0">
                <a:solidFill>
                  <a:srgbClr val="5C2D91"/>
                </a:solidFill>
                <a:latin typeface="Segoe UI" pitchFamily="34" charset="0"/>
                <a:ea typeface="Segoe UI" pitchFamily="34" charset="-122"/>
                <a:cs typeface="Segoe UI" pitchFamily="34" charset="-120"/>
              </a:rPr>
              <a:t>INFERRED</a:t>
            </a:r>
            <a:endParaRPr lang="en-US" sz="900" dirty="0"/>
          </a:p>
        </p:txBody>
      </p:sp>
      <p:sp>
        <p:nvSpPr>
          <p:cNvPr id="14" name="Shape 12"/>
          <p:cNvSpPr/>
          <p:nvPr/>
        </p:nvSpPr>
        <p:spPr>
          <a:xfrm>
            <a:off x="8709660" y="5934456"/>
            <a:ext cx="128016" cy="128016"/>
          </a:xfrm>
          <a:prstGeom prst="ellipse">
            <a:avLst/>
          </a:prstGeom>
          <a:solidFill>
            <a:srgbClr val="D13438"/>
          </a:solidFill>
          <a:ln/>
        </p:spPr>
      </p:sp>
      <p:sp>
        <p:nvSpPr>
          <p:cNvPr id="15" name="Text 13"/>
          <p:cNvSpPr/>
          <p:nvPr/>
        </p:nvSpPr>
        <p:spPr>
          <a:xfrm>
            <a:off x="8892540" y="5897880"/>
            <a:ext cx="2400300" cy="219456"/>
          </a:xfrm>
          <a:prstGeom prst="rect">
            <a:avLst/>
          </a:prstGeom>
          <a:noFill/>
          <a:ln/>
        </p:spPr>
        <p:txBody>
          <a:bodyPr wrap="square" rtlCol="0" anchor="ctr"/>
          <a:lstStyle/>
          <a:p>
            <a:pPr indent="0" marL="0">
              <a:buNone/>
            </a:pPr>
            <a:r>
              <a:rPr lang="en-US" sz="900" b="1" dirty="0">
                <a:solidFill>
                  <a:srgbClr val="D13438"/>
                </a:solidFill>
                <a:latin typeface="Segoe UI" pitchFamily="34" charset="0"/>
                <a:ea typeface="Segoe UI" pitchFamily="34" charset="-122"/>
                <a:cs typeface="Segoe UI" pitchFamily="34" charset="-120"/>
              </a:rPr>
              <a:t>REQUIRES VALIDATION</a:t>
            </a:r>
            <a:endParaRPr lang="en-US" sz="900" dirty="0"/>
          </a:p>
        </p:txBody>
      </p:sp>
      <p:sp>
        <p:nvSpPr>
          <p:cNvPr id="17" name="Text 14"/>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 / 36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800" b="1" dirty="0">
                <a:solidFill>
                  <a:srgbClr val="146C54"/>
                </a:solidFill>
                <a:latin typeface="Segoe UI" pitchFamily="34" charset="0"/>
                <a:ea typeface="Segoe UI" pitchFamily="34" charset="-122"/>
                <a:cs typeface="Segoe UI" pitchFamily="34" charset="-120"/>
              </a:rPr>
              <a:t>Current pilot: working chat and verified releases</a:t>
            </a:r>
            <a:endParaRPr lang="en-US" sz="2800" dirty="0"/>
          </a:p>
        </p:txBody>
      </p:sp>
      <p:sp>
        <p:nvSpPr>
          <p:cNvPr id="3" name="Shape 1"/>
          <p:cNvSpPr/>
          <p:nvPr/>
        </p:nvSpPr>
        <p:spPr>
          <a:xfrm>
            <a:off x="457200" y="1371600"/>
            <a:ext cx="54864" cy="1143000"/>
          </a:xfrm>
          <a:prstGeom prst="rect">
            <a:avLst/>
          </a:prstGeom>
          <a:solidFill>
            <a:srgbClr val="146C54"/>
          </a:solidFill>
          <a:ln w="12700">
            <a:solidFill>
              <a:srgbClr val="333333">
                <a:alpha val="0"/>
              </a:srgbClr>
            </a:solidFill>
            <a:prstDash val="solid"/>
          </a:ln>
        </p:spPr>
      </p:sp>
      <p:sp>
        <p:nvSpPr>
          <p:cNvPr id="4" name="Text 2"/>
          <p:cNvSpPr/>
          <p:nvPr/>
        </p:nvSpPr>
        <p:spPr>
          <a:xfrm>
            <a:off x="685800" y="137160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Entra tenant + pilot group</a:t>
            </a:r>
            <a:endParaRPr lang="en-US" sz="2100" dirty="0"/>
          </a:p>
        </p:txBody>
      </p:sp>
      <p:sp>
        <p:nvSpPr>
          <p:cNvPr id="5" name="Text 3"/>
          <p:cNvSpPr/>
          <p:nvPr/>
        </p:nvSpPr>
        <p:spPr>
          <a:xfrm>
            <a:off x="685800" y="182880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Authenticated React / FastAPI chat; public HTTPS, not a private-network deployment.</a:t>
            </a:r>
            <a:endParaRPr lang="en-US" sz="1800" dirty="0"/>
          </a:p>
        </p:txBody>
      </p:sp>
      <p:sp>
        <p:nvSpPr>
          <p:cNvPr id="6" name="Shape 4"/>
          <p:cNvSpPr/>
          <p:nvPr/>
        </p:nvSpPr>
        <p:spPr>
          <a:xfrm>
            <a:off x="457200" y="2880360"/>
            <a:ext cx="54864" cy="1143000"/>
          </a:xfrm>
          <a:prstGeom prst="rect">
            <a:avLst/>
          </a:prstGeom>
          <a:solidFill>
            <a:srgbClr val="0078D4"/>
          </a:solidFill>
          <a:ln w="12700">
            <a:solidFill>
              <a:srgbClr val="333333">
                <a:alpha val="0"/>
              </a:srgbClr>
            </a:solidFill>
            <a:prstDash val="solid"/>
          </a:ln>
        </p:spPr>
      </p:sp>
      <p:sp>
        <p:nvSpPr>
          <p:cNvPr id="7" name="Text 5"/>
          <p:cNvSpPr/>
          <p:nvPr/>
        </p:nvSpPr>
        <p:spPr>
          <a:xfrm>
            <a:off x="685800" y="288036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Full-history requests</a:t>
            </a:r>
            <a:endParaRPr lang="en-US" sz="2100" dirty="0"/>
          </a:p>
        </p:txBody>
      </p:sp>
      <p:sp>
        <p:nvSpPr>
          <p:cNvPr id="8" name="Text 6"/>
          <p:cNvSpPr/>
          <p:nvPr/>
        </p:nvSpPr>
        <p:spPr>
          <a:xfrm>
            <a:off x="685800" y="333756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Backend-owned user/assistant turns, store:false; no native conversation or previous_response_id.</a:t>
            </a:r>
            <a:endParaRPr lang="en-US" sz="1800" dirty="0"/>
          </a:p>
        </p:txBody>
      </p:sp>
      <p:sp>
        <p:nvSpPr>
          <p:cNvPr id="9" name="Shape 7"/>
          <p:cNvSpPr/>
          <p:nvPr/>
        </p:nvSpPr>
        <p:spPr>
          <a:xfrm>
            <a:off x="457200" y="4389120"/>
            <a:ext cx="54864" cy="1143000"/>
          </a:xfrm>
          <a:prstGeom prst="rect">
            <a:avLst/>
          </a:prstGeom>
          <a:solidFill>
            <a:srgbClr val="B22938"/>
          </a:solidFill>
          <a:ln w="12700">
            <a:solidFill>
              <a:srgbClr val="333333">
                <a:alpha val="0"/>
              </a:srgbClr>
            </a:solidFill>
            <a:prstDash val="solid"/>
          </a:ln>
        </p:spPr>
      </p:sp>
      <p:sp>
        <p:nvSpPr>
          <p:cNvPr id="10" name="Text 8"/>
          <p:cNvSpPr/>
          <p:nvPr/>
        </p:nvSpPr>
        <p:spPr>
          <a:xfrm>
            <a:off x="685800" y="438912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Verified release and load</a:t>
            </a:r>
            <a:endParaRPr lang="en-US" sz="2100" dirty="0"/>
          </a:p>
        </p:txBody>
      </p:sp>
      <p:sp>
        <p:nvSpPr>
          <p:cNvPr id="11" name="Text 9"/>
          <p:cNvSpPr/>
          <p:nvPr/>
        </p:nvSpPr>
        <p:spPr>
          <a:xfrm>
            <a:off x="685800" y="484632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Release 34427432731 and Continuous Validation 34427429700 succeeded. Synthetic security data only.</a:t>
            </a:r>
            <a:endParaRPr lang="en-US" sz="1800" dirty="0"/>
          </a:p>
        </p:txBody>
      </p:sp>
      <p:sp>
        <p:nvSpPr>
          <p:cNvPr id="12" name="Text 10">
            <a:hlinkClick r:id="rId1" tooltip=""/>
          </p:cNvPr>
          <p:cNvSpPr/>
          <p:nvPr/>
        </p:nvSpPr>
        <p:spPr>
          <a:xfrm>
            <a:off x="457200" y="6446520"/>
            <a:ext cx="10698480" cy="228600"/>
          </a:xfrm>
          <a:prstGeom prst="rect">
            <a:avLst/>
          </a:prstGeom>
          <a:noFill/>
          <a:ln/>
        </p:spPr>
        <p:txBody>
          <a:bodyPr wrap="square" rtlCol="0" anchor="ctr"/>
          <a:lstStyle/>
          <a:p>
            <a:pPr indent="0" marL="0">
              <a:buNone/>
            </a:pPr>
            <a:r>
              <a:rPr lang="en-US" sz="1000" u="sng" dirty="0">
                <a:solidFill>
                  <a:srgbClr val="075C9B"/>
                </a:solidFill>
                <a:hlinkClick r:id="rId1" invalidUrl="" action="" tgtFrame="" tooltip="" history="1" highlightClick="0" endSnd="0">
                  <a:extLst>
                    <a:ext uri="{A12FA001-AC4F-418D-AE19-62706E023703}">
                      <ahyp:hlinkClr xmlns:ahyp="http://schemas.microsoft.com/office/drawing/2018/hyperlinkcolor" val="tx"/>
                    </a:ext>
                  </a:extLst>
                </a:hlinkClick>
              </a:rPr>
              <a:t>Implementation snapshot | 2026-09-10 UTC | 15098b7 + demo UI refresh</a:t>
            </a:r>
            <a:endParaRPr lang="en-US" sz="1000" dirty="0"/>
          </a:p>
        </p:txBody>
      </p:sp>
      <p:sp>
        <p:nvSpPr>
          <p:cNvPr id="14" name="Text 11"/>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 / 36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800" b="1" dirty="0">
                <a:solidFill>
                  <a:srgbClr val="146C54"/>
                </a:solidFill>
                <a:latin typeface="Segoe UI" pitchFamily="34" charset="0"/>
                <a:ea typeface="Segoe UI" pitchFamily="34" charset="-122"/>
                <a:cs typeface="Segoe UI" pitchFamily="34" charset="-120"/>
              </a:rPr>
              <a:t>Live demo: three scenarios, four MCP tools</a:t>
            </a:r>
            <a:endParaRPr lang="en-US" sz="2800" dirty="0"/>
          </a:p>
        </p:txBody>
      </p:sp>
      <p:sp>
        <p:nvSpPr>
          <p:cNvPr id="3" name="Shape 1"/>
          <p:cNvSpPr/>
          <p:nvPr/>
        </p:nvSpPr>
        <p:spPr>
          <a:xfrm>
            <a:off x="457200" y="1371600"/>
            <a:ext cx="54864" cy="1143000"/>
          </a:xfrm>
          <a:prstGeom prst="rect">
            <a:avLst/>
          </a:prstGeom>
          <a:solidFill>
            <a:srgbClr val="146C54"/>
          </a:solidFill>
          <a:ln w="12700">
            <a:solidFill>
              <a:srgbClr val="333333">
                <a:alpha val="0"/>
              </a:srgbClr>
            </a:solidFill>
            <a:prstDash val="solid"/>
          </a:ln>
        </p:spPr>
      </p:sp>
      <p:sp>
        <p:nvSpPr>
          <p:cNvPr id="4" name="Text 2"/>
          <p:cNvSpPr/>
          <p:nvPr/>
        </p:nvSpPr>
        <p:spPr>
          <a:xfrm>
            <a:off x="685800" y="137160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1 / Suspicious crew-admin login</a:t>
            </a:r>
            <a:endParaRPr lang="en-US" sz="2100" dirty="0"/>
          </a:p>
        </p:txBody>
      </p:sp>
      <p:sp>
        <p:nvSpPr>
          <p:cNvPr id="5" name="Text 3"/>
          <p:cNvSpPr/>
          <p:nvPr/>
        </p:nvSpPr>
        <p:spPr>
          <a:xfrm>
            <a:off x="685800" y="182880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CREW-PORTAL-01 + crew-admin: correlate MFA failures and success; expect escalation with evidence limits.</a:t>
            </a:r>
            <a:endParaRPr lang="en-US" sz="1800" dirty="0"/>
          </a:p>
        </p:txBody>
      </p:sp>
      <p:sp>
        <p:nvSpPr>
          <p:cNvPr id="6" name="Shape 4"/>
          <p:cNvSpPr/>
          <p:nvPr/>
        </p:nvSpPr>
        <p:spPr>
          <a:xfrm>
            <a:off x="457200" y="2880360"/>
            <a:ext cx="54864" cy="1143000"/>
          </a:xfrm>
          <a:prstGeom prst="rect">
            <a:avLst/>
          </a:prstGeom>
          <a:solidFill>
            <a:srgbClr val="0078D4"/>
          </a:solidFill>
          <a:ln w="12700">
            <a:solidFill>
              <a:srgbClr val="333333">
                <a:alpha val="0"/>
              </a:srgbClr>
            </a:solidFill>
            <a:prstDash val="solid"/>
          </a:ln>
        </p:spPr>
      </p:sp>
      <p:sp>
        <p:nvSpPr>
          <p:cNvPr id="7" name="Text 5"/>
          <p:cNvSpPr/>
          <p:nvPr/>
        </p:nvSpPr>
        <p:spPr>
          <a:xfrm>
            <a:off x="685800" y="288036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2 / Approved employee travel</a:t>
            </a:r>
            <a:endParaRPr lang="en-US" sz="2100" dirty="0"/>
          </a:p>
        </p:txBody>
      </p:sp>
      <p:sp>
        <p:nvSpPr>
          <p:cNvPr id="8" name="Text 6"/>
          <p:cNvSpPr/>
          <p:nvPr/>
        </p:nvSpPr>
        <p:spPr>
          <a:xfrm>
            <a:off x="685800" y="333756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JDOE-LT-01 + jdoe: reconcile travel and known device; do not invent a compromise.</a:t>
            </a:r>
            <a:endParaRPr lang="en-US" sz="1800" dirty="0"/>
          </a:p>
        </p:txBody>
      </p:sp>
      <p:sp>
        <p:nvSpPr>
          <p:cNvPr id="9" name="Shape 7"/>
          <p:cNvSpPr/>
          <p:nvPr/>
        </p:nvSpPr>
        <p:spPr>
          <a:xfrm>
            <a:off x="457200" y="4389120"/>
            <a:ext cx="54864" cy="1143000"/>
          </a:xfrm>
          <a:prstGeom prst="rect">
            <a:avLst/>
          </a:prstGeom>
          <a:solidFill>
            <a:srgbClr val="B22938"/>
          </a:solidFill>
          <a:ln w="12700">
            <a:solidFill>
              <a:srgbClr val="333333">
                <a:alpha val="0"/>
              </a:srgbClr>
            </a:solidFill>
            <a:prstDash val="solid"/>
          </a:ln>
        </p:spPr>
      </p:sp>
      <p:sp>
        <p:nvSpPr>
          <p:cNvPr id="10" name="Text 8"/>
          <p:cNvSpPr/>
          <p:nvPr/>
        </p:nvSpPr>
        <p:spPr>
          <a:xfrm>
            <a:off x="685800" y="438912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3 / Conflicting egress signals</a:t>
            </a:r>
            <a:endParaRPr lang="en-US" sz="2100" dirty="0"/>
          </a:p>
        </p:txBody>
      </p:sp>
      <p:sp>
        <p:nvSpPr>
          <p:cNvPr id="11" name="Text 9"/>
          <p:cNvSpPr/>
          <p:nvPr/>
        </p:nvSpPr>
        <p:spPr>
          <a:xfrm>
            <a:off x="685800" y="484632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OPS-DB-02 + data_egress_mb_per_hour: 900: compare clean endpoint with network anomaly; surface the conflict.</a:t>
            </a:r>
            <a:endParaRPr lang="en-US" sz="1800" dirty="0"/>
          </a:p>
        </p:txBody>
      </p:sp>
      <p:sp>
        <p:nvSpPr>
          <p:cNvPr id="12" name="Text 10">
            <a:hlinkClick r:id="rId1" tooltip=""/>
          </p:cNvPr>
          <p:cNvSpPr/>
          <p:nvPr/>
        </p:nvSpPr>
        <p:spPr>
          <a:xfrm>
            <a:off x="457200" y="6446520"/>
            <a:ext cx="10698480" cy="228600"/>
          </a:xfrm>
          <a:prstGeom prst="rect">
            <a:avLst/>
          </a:prstGeom>
          <a:noFill/>
          <a:ln/>
        </p:spPr>
        <p:txBody>
          <a:bodyPr wrap="square" rtlCol="0" anchor="ctr"/>
          <a:lstStyle/>
          <a:p>
            <a:pPr indent="0" marL="0">
              <a:buNone/>
            </a:pPr>
            <a:r>
              <a:rPr lang="en-US" sz="1000" u="sng" dirty="0">
                <a:solidFill>
                  <a:srgbClr val="075C9B"/>
                </a:solidFill>
                <a:hlinkClick r:id="rId1" invalidUrl="" action="" tgtFrame="" tooltip="" history="1" highlightClick="0" endSnd="0">
                  <a:extLst>
                    <a:ext uri="{A12FA001-AC4F-418D-AE19-62706E023703}">
                      <ahyp:hlinkClr xmlns:ahyp="http://schemas.microsoft.com/office/drawing/2018/hyperlinkcolor" val="tx"/>
                    </a:ext>
                  </a:extLst>
                </a:hlinkClick>
              </a:rPr>
              <a:t>Implementation snapshot | 2026-09-10 UTC | 15098b7 + demo UI refresh</a:t>
            </a:r>
            <a:endParaRPr lang="en-US" sz="1000" dirty="0"/>
          </a:p>
        </p:txBody>
      </p:sp>
      <p:sp>
        <p:nvSpPr>
          <p:cNvPr id="14" name="Text 11"/>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 / 36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800" b="1" dirty="0">
                <a:solidFill>
                  <a:srgbClr val="146C54"/>
                </a:solidFill>
                <a:latin typeface="Segoe UI" pitchFamily="34" charset="0"/>
                <a:ea typeface="Segoe UI" pitchFamily="34" charset="-122"/>
                <a:cs typeface="Segoe UI" pitchFamily="34" charset="-120"/>
              </a:rPr>
              <a:t>Conversation memory: explicit, bounded, owner-scoped</a:t>
            </a:r>
            <a:endParaRPr lang="en-US" sz="2800" dirty="0"/>
          </a:p>
        </p:txBody>
      </p:sp>
      <p:sp>
        <p:nvSpPr>
          <p:cNvPr id="3" name="Shape 1"/>
          <p:cNvSpPr/>
          <p:nvPr/>
        </p:nvSpPr>
        <p:spPr>
          <a:xfrm>
            <a:off x="457200" y="1371600"/>
            <a:ext cx="54864" cy="1143000"/>
          </a:xfrm>
          <a:prstGeom prst="rect">
            <a:avLst/>
          </a:prstGeom>
          <a:solidFill>
            <a:srgbClr val="146C54"/>
          </a:solidFill>
          <a:ln w="12700">
            <a:solidFill>
              <a:srgbClr val="333333">
                <a:alpha val="0"/>
              </a:srgbClr>
            </a:solidFill>
            <a:prstDash val="solid"/>
          </a:ln>
        </p:spPr>
      </p:sp>
      <p:sp>
        <p:nvSpPr>
          <p:cNvPr id="4" name="Text 2"/>
          <p:cNvSpPr/>
          <p:nvPr/>
        </p:nvSpPr>
        <p:spPr>
          <a:xfrm>
            <a:off x="685800" y="137160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Recall in the same assessment</a:t>
            </a:r>
            <a:endParaRPr lang="en-US" sz="2100" dirty="0"/>
          </a:p>
        </p:txBody>
      </p:sp>
      <p:sp>
        <p:nvSpPr>
          <p:cNvPr id="5" name="Text 3"/>
          <p:cNvSpPr/>
          <p:nvPr/>
        </p:nvSpPr>
        <p:spPr>
          <a:xfrm>
            <a:off x="685800" y="182880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Add reference DEMO-73921, then ask for it without repeating it. All three specialists receive the supplied history.</a:t>
            </a:r>
            <a:endParaRPr lang="en-US" sz="1800" dirty="0"/>
          </a:p>
        </p:txBody>
      </p:sp>
      <p:sp>
        <p:nvSpPr>
          <p:cNvPr id="6" name="Shape 4"/>
          <p:cNvSpPr/>
          <p:nvPr/>
        </p:nvSpPr>
        <p:spPr>
          <a:xfrm>
            <a:off x="457200" y="2880360"/>
            <a:ext cx="54864" cy="1143000"/>
          </a:xfrm>
          <a:prstGeom prst="rect">
            <a:avLst/>
          </a:prstGeom>
          <a:solidFill>
            <a:srgbClr val="0078D4"/>
          </a:solidFill>
          <a:ln w="12700">
            <a:solidFill>
              <a:srgbClr val="333333">
                <a:alpha val="0"/>
              </a:srgbClr>
            </a:solidFill>
            <a:prstDash val="solid"/>
          </a:ln>
        </p:spPr>
      </p:sp>
      <p:sp>
        <p:nvSpPr>
          <p:cNvPr id="7" name="Text 5"/>
          <p:cNvSpPr/>
          <p:nvPr/>
        </p:nvSpPr>
        <p:spPr>
          <a:xfrm>
            <a:off x="685800" y="288036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Isolation and retry boundaries</a:t>
            </a:r>
            <a:endParaRPr lang="en-US" sz="2100" dirty="0"/>
          </a:p>
        </p:txBody>
      </p:sp>
      <p:sp>
        <p:nvSpPr>
          <p:cNvPr id="8" name="Text 6"/>
          <p:cNvSpPr/>
          <p:nvPr/>
        </p:nvSpPr>
        <p:spPr>
          <a:xfrm>
            <a:off x="685800" y="333756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A new assessment must not recall that reference. Completed identical message retries replay; changed text with the same key conflicts.</a:t>
            </a:r>
            <a:endParaRPr lang="en-US" sz="1800" dirty="0"/>
          </a:p>
        </p:txBody>
      </p:sp>
      <p:sp>
        <p:nvSpPr>
          <p:cNvPr id="9" name="Shape 7"/>
          <p:cNvSpPr/>
          <p:nvPr/>
        </p:nvSpPr>
        <p:spPr>
          <a:xfrm>
            <a:off x="457200" y="4389120"/>
            <a:ext cx="54864" cy="1143000"/>
          </a:xfrm>
          <a:prstGeom prst="rect">
            <a:avLst/>
          </a:prstGeom>
          <a:solidFill>
            <a:srgbClr val="B22938"/>
          </a:solidFill>
          <a:ln w="12700">
            <a:solidFill>
              <a:srgbClr val="333333">
                <a:alpha val="0"/>
              </a:srgbClr>
            </a:solidFill>
            <a:prstDash val="solid"/>
          </a:ln>
        </p:spPr>
      </p:sp>
      <p:sp>
        <p:nvSpPr>
          <p:cNvPr id="10" name="Text 8"/>
          <p:cNvSpPr/>
          <p:nvPr/>
        </p:nvSpPr>
        <p:spPr>
          <a:xfrm>
            <a:off x="685800" y="438912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No durable history claim</a:t>
            </a:r>
            <a:endParaRPr lang="en-US" sz="2100" dirty="0"/>
          </a:p>
        </p:txBody>
      </p:sp>
      <p:sp>
        <p:nvSpPr>
          <p:cNvPr id="11" name="Text 9"/>
          <p:cNvSpPr/>
          <p:nvPr/>
        </p:nvSpPr>
        <p:spPr>
          <a:xfrm>
            <a:off x="685800" y="484632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Owner-bound in-memory sessions expire; restart loses server state and browser reload loses the local list. No Cosmos, Teams, or durable exactly-once guarantee.</a:t>
            </a:r>
            <a:endParaRPr lang="en-US" sz="1800" dirty="0"/>
          </a:p>
        </p:txBody>
      </p:sp>
      <p:sp>
        <p:nvSpPr>
          <p:cNvPr id="12" name="Text 10">
            <a:hlinkClick r:id="rId1" tooltip=""/>
          </p:cNvPr>
          <p:cNvSpPr/>
          <p:nvPr/>
        </p:nvSpPr>
        <p:spPr>
          <a:xfrm>
            <a:off x="457200" y="6446520"/>
            <a:ext cx="10698480" cy="228600"/>
          </a:xfrm>
          <a:prstGeom prst="rect">
            <a:avLst/>
          </a:prstGeom>
          <a:noFill/>
          <a:ln/>
        </p:spPr>
        <p:txBody>
          <a:bodyPr wrap="square" rtlCol="0" anchor="ctr"/>
          <a:lstStyle/>
          <a:p>
            <a:pPr indent="0" marL="0">
              <a:buNone/>
            </a:pPr>
            <a:r>
              <a:rPr lang="en-US" sz="1000" u="sng" dirty="0">
                <a:solidFill>
                  <a:srgbClr val="075C9B"/>
                </a:solidFill>
                <a:hlinkClick r:id="rId1" invalidUrl="" action="" tgtFrame="" tooltip="" history="1" highlightClick="0" endSnd="0">
                  <a:extLst>
                    <a:ext uri="{A12FA001-AC4F-418D-AE19-62706E023703}">
                      <ahyp:hlinkClr xmlns:ahyp="http://schemas.microsoft.com/office/drawing/2018/hyperlinkcolor" val="tx"/>
                    </a:ext>
                  </a:extLst>
                </a:hlinkClick>
              </a:rPr>
              <a:t>Implementation snapshot | 2026-09-10 UTC | 15098b7 + demo UI refresh</a:t>
            </a:r>
            <a:endParaRPr lang="en-US" sz="1000" dirty="0"/>
          </a:p>
        </p:txBody>
      </p:sp>
      <p:sp>
        <p:nvSpPr>
          <p:cNvPr id="14" name="Text 11"/>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4 / 36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800" b="1" dirty="0">
                <a:solidFill>
                  <a:srgbClr val="146C54"/>
                </a:solidFill>
                <a:latin typeface="Segoe UI" pitchFamily="34" charset="0"/>
                <a:ea typeface="Segoe UI" pitchFamily="34" charset="-122"/>
                <a:cs typeface="Segoe UI" pitchFamily="34" charset="-120"/>
              </a:rPr>
              <a:t>Tool execution is evidence, not model prose</a:t>
            </a:r>
            <a:endParaRPr lang="en-US" sz="2800" dirty="0"/>
          </a:p>
        </p:txBody>
      </p:sp>
      <p:sp>
        <p:nvSpPr>
          <p:cNvPr id="3" name="Shape 1"/>
          <p:cNvSpPr/>
          <p:nvPr/>
        </p:nvSpPr>
        <p:spPr>
          <a:xfrm>
            <a:off x="457200" y="1371600"/>
            <a:ext cx="54864" cy="1143000"/>
          </a:xfrm>
          <a:prstGeom prst="rect">
            <a:avLst/>
          </a:prstGeom>
          <a:solidFill>
            <a:srgbClr val="146C54"/>
          </a:solidFill>
          <a:ln w="12700">
            <a:solidFill>
              <a:srgbClr val="333333">
                <a:alpha val="0"/>
              </a:srgbClr>
            </a:solidFill>
            <a:prstDash val="solid"/>
          </a:ln>
        </p:spPr>
      </p:sp>
      <p:sp>
        <p:nvSpPr>
          <p:cNvPr id="4" name="Text 2"/>
          <p:cNvSpPr/>
          <p:nvPr/>
        </p:nvSpPr>
        <p:spPr>
          <a:xfrm>
            <a:off x="685800" y="137160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Deterministic lookup plan</a:t>
            </a:r>
            <a:endParaRPr lang="en-US" sz="2100" dirty="0"/>
          </a:p>
        </p:txBody>
      </p:sp>
      <p:sp>
        <p:nvSpPr>
          <p:cNvPr id="5" name="Text 3"/>
          <p:cNvSpPr/>
          <p:nvPr/>
        </p:nvSpPr>
        <p:spPr>
          <a:xfrm>
            <a:off x="685800" y="182880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Explicit user device/account/metric fields select real read-only MCP calls. Omitted fields retain prior context; new values replace that category.</a:t>
            </a:r>
            <a:endParaRPr lang="en-US" sz="1800" dirty="0"/>
          </a:p>
        </p:txBody>
      </p:sp>
      <p:sp>
        <p:nvSpPr>
          <p:cNvPr id="6" name="Shape 4"/>
          <p:cNvSpPr/>
          <p:nvPr/>
        </p:nvSpPr>
        <p:spPr>
          <a:xfrm>
            <a:off x="457200" y="2880360"/>
            <a:ext cx="54864" cy="1143000"/>
          </a:xfrm>
          <a:prstGeom prst="rect">
            <a:avLst/>
          </a:prstGeom>
          <a:solidFill>
            <a:srgbClr val="0078D4"/>
          </a:solidFill>
          <a:ln w="12700">
            <a:solidFill>
              <a:srgbClr val="333333">
                <a:alpha val="0"/>
              </a:srgbClr>
            </a:solidFill>
            <a:prstDash val="solid"/>
          </a:ln>
        </p:spPr>
      </p:sp>
      <p:sp>
        <p:nvSpPr>
          <p:cNvPr id="7" name="Text 5"/>
          <p:cNvSpPr/>
          <p:nvPr/>
        </p:nvSpPr>
        <p:spPr>
          <a:xfrm>
            <a:off x="685800" y="288036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Strict specialist permissions</a:t>
            </a:r>
            <a:endParaRPr lang="en-US" sz="2100" dirty="0"/>
          </a:p>
        </p:txBody>
      </p:sp>
      <p:sp>
        <p:nvSpPr>
          <p:cNvPr id="8" name="Text 6"/>
          <p:cNvSpPr/>
          <p:nvPr/>
        </p:nvSpPr>
        <p:spPr>
          <a:xfrm>
            <a:off x="685800" y="333756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Investigator: get_device_risk + list_vulnerabilities. Analyst: detect_login_anomalies + score_anomaly. Composer: no tools.</a:t>
            </a:r>
            <a:endParaRPr lang="en-US" sz="1800" dirty="0"/>
          </a:p>
        </p:txBody>
      </p:sp>
      <p:sp>
        <p:nvSpPr>
          <p:cNvPr id="9" name="Shape 7"/>
          <p:cNvSpPr/>
          <p:nvPr/>
        </p:nvSpPr>
        <p:spPr>
          <a:xfrm>
            <a:off x="457200" y="4389120"/>
            <a:ext cx="54864" cy="1143000"/>
          </a:xfrm>
          <a:prstGeom prst="rect">
            <a:avLst/>
          </a:prstGeom>
          <a:solidFill>
            <a:srgbClr val="B22938"/>
          </a:solidFill>
          <a:ln w="12700">
            <a:solidFill>
              <a:srgbClr val="333333">
                <a:alpha val="0"/>
              </a:srgbClr>
            </a:solidFill>
            <a:prstDash val="solid"/>
          </a:ln>
        </p:spPr>
      </p:sp>
      <p:sp>
        <p:nvSpPr>
          <p:cNvPr id="10" name="Text 8"/>
          <p:cNvSpPr/>
          <p:nvPr/>
        </p:nvSpPr>
        <p:spPr>
          <a:xfrm>
            <a:off x="685800" y="438912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Validate actual receipts</a:t>
            </a:r>
            <a:endParaRPr lang="en-US" sz="2100" dirty="0"/>
          </a:p>
        </p:txBody>
      </p:sp>
      <p:sp>
        <p:nvSpPr>
          <p:cNvPr id="11" name="Text 9"/>
          <p:cNvSpPr/>
          <p:nvPr/>
        </p:nvSpPr>
        <p:spPr>
          <a:xfrm>
            <a:off x="685800" y="484632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Successful ToolMessage results become bounded response metadata. Synthetic fixtures and unavailable vulnerability telemetry must remain visible limitations.</a:t>
            </a:r>
            <a:endParaRPr lang="en-US" sz="1800" dirty="0"/>
          </a:p>
        </p:txBody>
      </p:sp>
      <p:sp>
        <p:nvSpPr>
          <p:cNvPr id="12" name="Text 10">
            <a:hlinkClick r:id="rId1" tooltip=""/>
          </p:cNvPr>
          <p:cNvSpPr/>
          <p:nvPr/>
        </p:nvSpPr>
        <p:spPr>
          <a:xfrm>
            <a:off x="457200" y="6446520"/>
            <a:ext cx="10698480" cy="228600"/>
          </a:xfrm>
          <a:prstGeom prst="rect">
            <a:avLst/>
          </a:prstGeom>
          <a:noFill/>
          <a:ln/>
        </p:spPr>
        <p:txBody>
          <a:bodyPr wrap="square" rtlCol="0" anchor="ctr"/>
          <a:lstStyle/>
          <a:p>
            <a:pPr indent="0" marL="0">
              <a:buNone/>
            </a:pPr>
            <a:r>
              <a:rPr lang="en-US" sz="1000" u="sng" dirty="0">
                <a:solidFill>
                  <a:srgbClr val="075C9B"/>
                </a:solidFill>
                <a:hlinkClick r:id="rId1" invalidUrl="" action="" tgtFrame="" tooltip="" history="1" highlightClick="0" endSnd="0">
                  <a:extLst>
                    <a:ext uri="{A12FA001-AC4F-418D-AE19-62706E023703}">
                      <ahyp:hlinkClr xmlns:ahyp="http://schemas.microsoft.com/office/drawing/2018/hyperlinkcolor" val="tx"/>
                    </a:ext>
                  </a:extLst>
                </a:hlinkClick>
              </a:rPr>
              <a:t>Implementation snapshot | 2026-09-10 UTC | 15098b7 + demo UI refresh</a:t>
            </a:r>
            <a:endParaRPr lang="en-US" sz="1000" dirty="0"/>
          </a:p>
        </p:txBody>
      </p:sp>
      <p:sp>
        <p:nvSpPr>
          <p:cNvPr id="14" name="Text 11"/>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5 / 36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800" b="1" dirty="0">
                <a:solidFill>
                  <a:srgbClr val="146C54"/>
                </a:solidFill>
                <a:latin typeface="Segoe UI" pitchFamily="34" charset="0"/>
                <a:ea typeface="Segoe UI" pitchFamily="34" charset="-122"/>
                <a:cs typeface="Segoe UI" pitchFamily="34" charset="-120"/>
              </a:rPr>
              <a:t>Release operations: approval, telemetry, capacity</a:t>
            </a:r>
            <a:endParaRPr lang="en-US" sz="2800" dirty="0"/>
          </a:p>
        </p:txBody>
      </p:sp>
      <p:sp>
        <p:nvSpPr>
          <p:cNvPr id="3" name="Shape 1"/>
          <p:cNvSpPr/>
          <p:nvPr/>
        </p:nvSpPr>
        <p:spPr>
          <a:xfrm>
            <a:off x="457200" y="1371600"/>
            <a:ext cx="54864" cy="1143000"/>
          </a:xfrm>
          <a:prstGeom prst="rect">
            <a:avLst/>
          </a:prstGeom>
          <a:solidFill>
            <a:srgbClr val="146C54"/>
          </a:solidFill>
          <a:ln w="12700">
            <a:solidFill>
              <a:srgbClr val="333333">
                <a:alpha val="0"/>
              </a:srgbClr>
            </a:solidFill>
            <a:prstDash val="solid"/>
          </a:ln>
        </p:spPr>
      </p:sp>
      <p:sp>
        <p:nvSpPr>
          <p:cNvPr id="4" name="Text 2"/>
          <p:cNvSpPr/>
          <p:nvPr/>
        </p:nvSpPr>
        <p:spPr>
          <a:xfrm>
            <a:off x="685800" y="137160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Approve the release, then monitoring</a:t>
            </a:r>
            <a:endParaRPr lang="en-US" sz="2100" dirty="0"/>
          </a:p>
        </p:txBody>
      </p:sp>
      <p:sp>
        <p:nvSpPr>
          <p:cNvPr id="5" name="Text 3"/>
          <p:cNvSpPr/>
          <p:nvPr/>
        </p:nvSpPr>
        <p:spPr>
          <a:xfrm>
            <a:off x="685800" y="182880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Both protected jobs use production approval. Continuous Validation queues behind the shared environment lock; it needs no manual approval.</a:t>
            </a:r>
            <a:endParaRPr lang="en-US" sz="1800" dirty="0"/>
          </a:p>
        </p:txBody>
      </p:sp>
      <p:sp>
        <p:nvSpPr>
          <p:cNvPr id="6" name="Shape 4"/>
          <p:cNvSpPr/>
          <p:nvPr/>
        </p:nvSpPr>
        <p:spPr>
          <a:xfrm>
            <a:off x="457200" y="2880360"/>
            <a:ext cx="54864" cy="1143000"/>
          </a:xfrm>
          <a:prstGeom prst="rect">
            <a:avLst/>
          </a:prstGeom>
          <a:solidFill>
            <a:srgbClr val="0078D4"/>
          </a:solidFill>
          <a:ln w="12700">
            <a:solidFill>
              <a:srgbClr val="333333">
                <a:alpha val="0"/>
              </a:srgbClr>
            </a:solidFill>
            <a:prstDash val="solid"/>
          </a:ln>
        </p:spPr>
      </p:sp>
      <p:sp>
        <p:nvSpPr>
          <p:cNvPr id="7" name="Text 5"/>
          <p:cNvSpPr/>
          <p:nvPr/>
        </p:nvSpPr>
        <p:spPr>
          <a:xfrm>
            <a:off x="685800" y="288036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Positive ingestion before zero exceptions</a:t>
            </a:r>
            <a:endParaRPr lang="en-US" sz="2100" dirty="0"/>
          </a:p>
        </p:txBody>
      </p:sp>
      <p:sp>
        <p:nvSpPr>
          <p:cNvPr id="8" name="Text 6"/>
          <p:cNvSpPr/>
          <p:nvPr/>
        </p:nvSpPr>
        <p:spPr>
          <a:xfrm>
            <a:off x="685800" y="333756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Correlate the raw response ID with AppTraces, then check AppExceptions. Empty or invalid query results fail; zero exceptions alone is insufficient.</a:t>
            </a:r>
            <a:endParaRPr lang="en-US" sz="1800" dirty="0"/>
          </a:p>
        </p:txBody>
      </p:sp>
      <p:sp>
        <p:nvSpPr>
          <p:cNvPr id="9" name="Shape 7"/>
          <p:cNvSpPr/>
          <p:nvPr/>
        </p:nvSpPr>
        <p:spPr>
          <a:xfrm>
            <a:off x="457200" y="4389120"/>
            <a:ext cx="54864" cy="1143000"/>
          </a:xfrm>
          <a:prstGeom prst="rect">
            <a:avLst/>
          </a:prstGeom>
          <a:solidFill>
            <a:srgbClr val="B22938"/>
          </a:solidFill>
          <a:ln w="12700">
            <a:solidFill>
              <a:srgbClr val="333333">
                <a:alpha val="0"/>
              </a:srgbClr>
            </a:solidFill>
            <a:prstDash val="solid"/>
          </a:ln>
        </p:spPr>
      </p:sp>
      <p:sp>
        <p:nvSpPr>
          <p:cNvPr id="10" name="Text 8"/>
          <p:cNvSpPr/>
          <p:nvPr/>
        </p:nvSpPr>
        <p:spPr>
          <a:xfrm>
            <a:off x="685800" y="4389120"/>
            <a:ext cx="10789920" cy="365760"/>
          </a:xfrm>
          <a:prstGeom prst="rect">
            <a:avLst/>
          </a:prstGeom>
          <a:noFill/>
          <a:ln/>
        </p:spPr>
        <p:txBody>
          <a:bodyPr wrap="square" rtlCol="0" anchor="ctr"/>
          <a:lstStyle/>
          <a:p>
            <a:pPr indent="0" marL="0">
              <a:buNone/>
            </a:pPr>
            <a:r>
              <a:rPr lang="en-US" sz="2100" b="1" dirty="0">
                <a:solidFill>
                  <a:srgbClr val="243831"/>
                </a:solidFill>
                <a:latin typeface="Segoe UI" pitchFamily="34" charset="0"/>
                <a:ea typeface="Segoe UI" pitchFamily="34" charset="-122"/>
                <a:cs typeface="Segoe UI" pitchFamily="34" charset="-120"/>
              </a:rPr>
              <a:t>Staging 50k TPM / production 10k TPM</a:t>
            </a:r>
            <a:endParaRPr lang="en-US" sz="2100" dirty="0"/>
          </a:p>
        </p:txBody>
      </p:sp>
      <p:sp>
        <p:nvSpPr>
          <p:cNvPr id="11" name="Text 9"/>
          <p:cNvSpPr/>
          <p:nvPr/>
        </p:nvSpPr>
        <p:spPr>
          <a:xfrm>
            <a:off x="685800" y="4846320"/>
            <a:ext cx="10789920" cy="777240"/>
          </a:xfrm>
          <a:prstGeom prst="rect">
            <a:avLst/>
          </a:prstGeom>
          <a:noFill/>
          <a:ln/>
        </p:spPr>
        <p:txBody>
          <a:bodyPr wrap="square" rtlCol="0" anchor="ctr"/>
          <a:lstStyle/>
          <a:p>
            <a:pPr indent="0" marL="0">
              <a:buNone/>
            </a:pPr>
            <a:r>
              <a:rPr lang="en-US" sz="1800" dirty="0">
                <a:solidFill>
                  <a:srgbClr val="43544D"/>
                </a:solidFill>
                <a:latin typeface="Segoe UI" pitchFamily="34" charset="0"/>
                <a:ea typeface="Segoe UI" pitchFamily="34" charset="-122"/>
                <a:cs typeface="Segoe UI" pitchFamily="34" charset="-120"/>
              </a:rPr>
              <a:t>Three load failures in 34424723263 correlated with model 429s. Approved staging-only increase; unchanged five-stream gate subsequently passed. Not an SLA or saturation test.</a:t>
            </a:r>
            <a:endParaRPr lang="en-US" sz="1800" dirty="0"/>
          </a:p>
        </p:txBody>
      </p:sp>
      <p:sp>
        <p:nvSpPr>
          <p:cNvPr id="12" name="Text 10">
            <a:hlinkClick r:id="rId1" tooltip=""/>
          </p:cNvPr>
          <p:cNvSpPr/>
          <p:nvPr/>
        </p:nvSpPr>
        <p:spPr>
          <a:xfrm>
            <a:off x="457200" y="6446520"/>
            <a:ext cx="10698480" cy="228600"/>
          </a:xfrm>
          <a:prstGeom prst="rect">
            <a:avLst/>
          </a:prstGeom>
          <a:noFill/>
          <a:ln/>
        </p:spPr>
        <p:txBody>
          <a:bodyPr wrap="square" rtlCol="0" anchor="ctr"/>
          <a:lstStyle/>
          <a:p>
            <a:pPr indent="0" marL="0">
              <a:buNone/>
            </a:pPr>
            <a:r>
              <a:rPr lang="en-US" sz="1000" u="sng" dirty="0">
                <a:solidFill>
                  <a:srgbClr val="075C9B"/>
                </a:solidFill>
                <a:hlinkClick r:id="rId1" invalidUrl="" action="" tgtFrame="" tooltip="" history="1" highlightClick="0" endSnd="0">
                  <a:extLst>
                    <a:ext uri="{A12FA001-AC4F-418D-AE19-62706E023703}">
                      <ahyp:hlinkClr xmlns:ahyp="http://schemas.microsoft.com/office/drawing/2018/hyperlinkcolor" val="tx"/>
                    </a:ext>
                  </a:extLst>
                </a:hlinkClick>
              </a:rPr>
              <a:t>Implementation snapshot | 2026-09-10 UTC | 15098b7 + demo UI refresh</a:t>
            </a:r>
            <a:endParaRPr lang="en-US" sz="1000" dirty="0"/>
          </a:p>
        </p:txBody>
      </p:sp>
      <p:sp>
        <p:nvSpPr>
          <p:cNvPr id="14" name="Text 11"/>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6 / 36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46304"/>
            <a:ext cx="11338560" cy="502920"/>
          </a:xfrm>
          <a:prstGeom prst="rect">
            <a:avLst/>
          </a:prstGeom>
          <a:noFill/>
          <a:ln/>
        </p:spPr>
        <p:txBody>
          <a:bodyPr wrap="square" rtlCol="0" anchor="ctr"/>
          <a:lstStyle/>
          <a:p>
            <a:pPr indent="0" marL="0">
              <a:buNone/>
            </a:pPr>
            <a:r>
              <a:rPr lang="en-US" sz="2200" b="1" dirty="0">
                <a:solidFill>
                  <a:srgbClr val="146C54"/>
                </a:solidFill>
                <a:latin typeface="Segoe UI" pitchFamily="34" charset="0"/>
                <a:ea typeface="Segoe UI" pitchFamily="34" charset="-122"/>
                <a:cs typeface="Segoe UI" pitchFamily="34" charset="-120"/>
              </a:rPr>
              <a:t>Historical proof: Verified Release: Staging to Production</a:t>
            </a:r>
            <a:endParaRPr lang="en-US" sz="2200" dirty="0"/>
          </a:p>
        </p:txBody>
      </p:sp>
      <p:pic>
        <p:nvPicPr>
          <p:cNvPr id="3" name="Image 0" descr="Verified Release: Staging to Production">    </p:cNvPr>
          <p:cNvPicPr>
            <a:picLocks noChangeAspect="1"/>
          </p:cNvPicPr>
          <p:nvPr/>
        </p:nvPicPr>
        <p:blipFill>
          <a:blip r:embed="rId1"/>
          <a:stretch>
            <a:fillRect/>
          </a:stretch>
        </p:blipFill>
        <p:spPr>
          <a:xfrm>
            <a:off x="2068830" y="777240"/>
            <a:ext cx="8051292" cy="5367528"/>
          </a:xfrm>
          <a:prstGeom prst="rect">
            <a:avLst/>
          </a:prstGeom>
        </p:spPr>
      </p:pic>
      <p:sp>
        <p:nvSpPr>
          <p:cNvPr id="4" name="Text 1"/>
          <p:cNvSpPr/>
          <p:nvPr/>
        </p:nvSpPr>
        <p:spPr>
          <a:xfrm>
            <a:off x="411480" y="6245352"/>
            <a:ext cx="11338560" cy="256032"/>
          </a:xfrm>
          <a:prstGeom prst="rect">
            <a:avLst/>
          </a:prstGeom>
          <a:noFill/>
          <a:ln/>
        </p:spPr>
        <p:txBody>
          <a:bodyPr wrap="square" rtlCol="0" anchor="ctr"/>
          <a:lstStyle/>
          <a:p>
            <a:pPr indent="0" marL="0">
              <a:buNone/>
            </a:pPr>
            <a:r>
              <a:rPr lang="en-US" sz="1000" dirty="0">
                <a:solidFill>
                  <a:srgbClr val="53635E"/>
                </a:solidFill>
                <a:latin typeface="Segoe UI" pitchFamily="34" charset="0"/>
                <a:ea typeface="Segoe UI" pitchFamily="34" charset="-122"/>
                <a:cs typeface="Segoe UI" pitchFamily="34" charset="-120"/>
              </a:rPr>
              <a:t>Artifact rendering, not a portal screenshot. Synthetic fixtures. Sources and SHA-256 hashes retained.</a:t>
            </a:r>
            <a:endParaRPr lang="en-US" sz="1000" dirty="0"/>
          </a:p>
        </p:txBody>
      </p:sp>
      <p:sp>
        <p:nvSpPr>
          <p:cNvPr id="5" name="Text 2">
            <a:hlinkClick r:id="rId2" tooltip=""/>
          </p:cNvPr>
          <p:cNvSpPr/>
          <p:nvPr/>
        </p:nvSpPr>
        <p:spPr>
          <a:xfrm>
            <a:off x="411480" y="6528816"/>
            <a:ext cx="10515600" cy="201168"/>
          </a:xfrm>
          <a:prstGeom prst="rect">
            <a:avLst/>
          </a:prstGeom>
          <a:noFill/>
          <a:ln/>
        </p:spPr>
        <p:txBody>
          <a:bodyPr wrap="square" rtlCol="0" anchor="ctr"/>
          <a:lstStyle/>
          <a:p>
            <a:pPr indent="0" marL="0">
              <a:buNone/>
            </a:pPr>
            <a:r>
              <a:rPr lang="en-US" sz="900" u="sng" dirty="0">
                <a:solidFill>
                  <a:srgbClr val="075C9B"/>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Actions 34178081808 | f3da486 | 2026-09-08 UTC</a:t>
            </a:r>
            <a:endParaRPr lang="en-US" sz="900" dirty="0"/>
          </a:p>
        </p:txBody>
      </p:sp>
      <p:sp>
        <p:nvSpPr>
          <p:cNvPr id="7" name="Text 3"/>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7 / 36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46304"/>
            <a:ext cx="11338560" cy="502920"/>
          </a:xfrm>
          <a:prstGeom prst="rect">
            <a:avLst/>
          </a:prstGeom>
          <a:noFill/>
          <a:ln/>
        </p:spPr>
        <p:txBody>
          <a:bodyPr wrap="square" rtlCol="0" anchor="ctr"/>
          <a:lstStyle/>
          <a:p>
            <a:pPr indent="0" marL="0">
              <a:buNone/>
            </a:pPr>
            <a:r>
              <a:rPr lang="en-US" sz="2200" b="1" dirty="0">
                <a:solidFill>
                  <a:srgbClr val="146C54"/>
                </a:solidFill>
                <a:latin typeface="Segoe UI" pitchFamily="34" charset="0"/>
                <a:ea typeface="Segoe UI" pitchFamily="34" charset="-122"/>
                <a:cs typeface="Segoe UI" pitchFamily="34" charset="-120"/>
              </a:rPr>
              <a:t>Historical proof: Quality Gate: 21 of 21 Judge Checks Passed</a:t>
            </a:r>
            <a:endParaRPr lang="en-US" sz="2200" dirty="0"/>
          </a:p>
        </p:txBody>
      </p:sp>
      <p:pic>
        <p:nvPicPr>
          <p:cNvPr id="3" name="Image 0" descr="Quality Gate: 21 of 21 Judge Checks Passed">    </p:cNvPr>
          <p:cNvPicPr>
            <a:picLocks noChangeAspect="1"/>
          </p:cNvPicPr>
          <p:nvPr/>
        </p:nvPicPr>
        <p:blipFill>
          <a:blip r:embed="rId1"/>
          <a:stretch>
            <a:fillRect/>
          </a:stretch>
        </p:blipFill>
        <p:spPr>
          <a:xfrm>
            <a:off x="2068830" y="777240"/>
            <a:ext cx="8051292" cy="5367528"/>
          </a:xfrm>
          <a:prstGeom prst="rect">
            <a:avLst/>
          </a:prstGeom>
        </p:spPr>
      </p:pic>
      <p:sp>
        <p:nvSpPr>
          <p:cNvPr id="4" name="Text 1"/>
          <p:cNvSpPr/>
          <p:nvPr/>
        </p:nvSpPr>
        <p:spPr>
          <a:xfrm>
            <a:off x="411480" y="6245352"/>
            <a:ext cx="11338560" cy="256032"/>
          </a:xfrm>
          <a:prstGeom prst="rect">
            <a:avLst/>
          </a:prstGeom>
          <a:noFill/>
          <a:ln/>
        </p:spPr>
        <p:txBody>
          <a:bodyPr wrap="square" rtlCol="0" anchor="ctr"/>
          <a:lstStyle/>
          <a:p>
            <a:pPr indent="0" marL="0">
              <a:buNone/>
            </a:pPr>
            <a:r>
              <a:rPr lang="en-US" sz="1000" dirty="0">
                <a:solidFill>
                  <a:srgbClr val="53635E"/>
                </a:solidFill>
                <a:latin typeface="Segoe UI" pitchFamily="34" charset="0"/>
                <a:ea typeface="Segoe UI" pitchFamily="34" charset="-122"/>
                <a:cs typeface="Segoe UI" pitchFamily="34" charset="-120"/>
              </a:rPr>
              <a:t>Artifact rendering, not a portal screenshot. Synthetic fixtures. Sources and SHA-256 hashes retained.</a:t>
            </a:r>
            <a:endParaRPr lang="en-US" sz="1000" dirty="0"/>
          </a:p>
        </p:txBody>
      </p:sp>
      <p:sp>
        <p:nvSpPr>
          <p:cNvPr id="5" name="Text 2">
            <a:hlinkClick r:id="rId2" tooltip=""/>
          </p:cNvPr>
          <p:cNvSpPr/>
          <p:nvPr/>
        </p:nvSpPr>
        <p:spPr>
          <a:xfrm>
            <a:off x="411480" y="6528816"/>
            <a:ext cx="10515600" cy="201168"/>
          </a:xfrm>
          <a:prstGeom prst="rect">
            <a:avLst/>
          </a:prstGeom>
          <a:noFill/>
          <a:ln/>
        </p:spPr>
        <p:txBody>
          <a:bodyPr wrap="square" rtlCol="0" anchor="ctr"/>
          <a:lstStyle/>
          <a:p>
            <a:pPr indent="0" marL="0">
              <a:buNone/>
            </a:pPr>
            <a:r>
              <a:rPr lang="en-US" sz="900" u="sng" dirty="0">
                <a:solidFill>
                  <a:srgbClr val="075C9B"/>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Actions 34178081808 | f3da486 | 2026-09-08 UTC</a:t>
            </a:r>
            <a:endParaRPr lang="en-US" sz="900" dirty="0"/>
          </a:p>
        </p:txBody>
      </p:sp>
      <p:sp>
        <p:nvSpPr>
          <p:cNvPr id="7" name="Text 3"/>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8 / 36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46304"/>
            <a:ext cx="11338560" cy="502920"/>
          </a:xfrm>
          <a:prstGeom prst="rect">
            <a:avLst/>
          </a:prstGeom>
          <a:noFill/>
          <a:ln/>
        </p:spPr>
        <p:txBody>
          <a:bodyPr wrap="square" rtlCol="0" anchor="ctr"/>
          <a:lstStyle/>
          <a:p>
            <a:pPr indent="0" marL="0">
              <a:buNone/>
            </a:pPr>
            <a:r>
              <a:rPr lang="en-US" sz="2200" b="1" dirty="0">
                <a:solidFill>
                  <a:srgbClr val="146C54"/>
                </a:solidFill>
                <a:latin typeface="Segoe UI" pitchFamily="34" charset="0"/>
                <a:ea typeface="Segoe UI" pitchFamily="34" charset="-122"/>
                <a:cs typeface="Segoe UI" pitchFamily="34" charset="-120"/>
              </a:rPr>
              <a:t>Historical proof: Tool Execution Proven; Telemetry Is Synthetic</a:t>
            </a:r>
            <a:endParaRPr lang="en-US" sz="2200" dirty="0"/>
          </a:p>
        </p:txBody>
      </p:sp>
      <p:pic>
        <p:nvPicPr>
          <p:cNvPr id="3" name="Image 0" descr="Tool Execution Proven; Telemetry Is Synthetic">    </p:cNvPr>
          <p:cNvPicPr>
            <a:picLocks noChangeAspect="1"/>
          </p:cNvPicPr>
          <p:nvPr/>
        </p:nvPicPr>
        <p:blipFill>
          <a:blip r:embed="rId1"/>
          <a:stretch>
            <a:fillRect/>
          </a:stretch>
        </p:blipFill>
        <p:spPr>
          <a:xfrm>
            <a:off x="2068830" y="777240"/>
            <a:ext cx="8051292" cy="5367528"/>
          </a:xfrm>
          <a:prstGeom prst="rect">
            <a:avLst/>
          </a:prstGeom>
        </p:spPr>
      </p:pic>
      <p:sp>
        <p:nvSpPr>
          <p:cNvPr id="4" name="Text 1"/>
          <p:cNvSpPr/>
          <p:nvPr/>
        </p:nvSpPr>
        <p:spPr>
          <a:xfrm>
            <a:off x="411480" y="6245352"/>
            <a:ext cx="11338560" cy="256032"/>
          </a:xfrm>
          <a:prstGeom prst="rect">
            <a:avLst/>
          </a:prstGeom>
          <a:noFill/>
          <a:ln/>
        </p:spPr>
        <p:txBody>
          <a:bodyPr wrap="square" rtlCol="0" anchor="ctr"/>
          <a:lstStyle/>
          <a:p>
            <a:pPr indent="0" marL="0">
              <a:buNone/>
            </a:pPr>
            <a:r>
              <a:rPr lang="en-US" sz="1000" dirty="0">
                <a:solidFill>
                  <a:srgbClr val="53635E"/>
                </a:solidFill>
                <a:latin typeface="Segoe UI" pitchFamily="34" charset="0"/>
                <a:ea typeface="Segoe UI" pitchFamily="34" charset="-122"/>
                <a:cs typeface="Segoe UI" pitchFamily="34" charset="-120"/>
              </a:rPr>
              <a:t>Artifact rendering, not a portal screenshot. Synthetic fixtures. Sources and SHA-256 hashes retained.</a:t>
            </a:r>
            <a:endParaRPr lang="en-US" sz="1000" dirty="0"/>
          </a:p>
        </p:txBody>
      </p:sp>
      <p:sp>
        <p:nvSpPr>
          <p:cNvPr id="5" name="Text 2">
            <a:hlinkClick r:id="rId2" tooltip=""/>
          </p:cNvPr>
          <p:cNvSpPr/>
          <p:nvPr/>
        </p:nvSpPr>
        <p:spPr>
          <a:xfrm>
            <a:off x="411480" y="6528816"/>
            <a:ext cx="10515600" cy="201168"/>
          </a:xfrm>
          <a:prstGeom prst="rect">
            <a:avLst/>
          </a:prstGeom>
          <a:noFill/>
          <a:ln/>
        </p:spPr>
        <p:txBody>
          <a:bodyPr wrap="square" rtlCol="0" anchor="ctr"/>
          <a:lstStyle/>
          <a:p>
            <a:pPr indent="0" marL="0">
              <a:buNone/>
            </a:pPr>
            <a:r>
              <a:rPr lang="en-US" sz="900" u="sng" dirty="0">
                <a:solidFill>
                  <a:srgbClr val="075C9B"/>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Actions 34178081808 | f3da486 | 2026-09-08 UTC</a:t>
            </a:r>
            <a:endParaRPr lang="en-US" sz="900" dirty="0"/>
          </a:p>
        </p:txBody>
      </p:sp>
      <p:sp>
        <p:nvSpPr>
          <p:cNvPr id="7" name="Text 3"/>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9 / 36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146304"/>
            <a:ext cx="11338560" cy="502920"/>
          </a:xfrm>
          <a:prstGeom prst="rect">
            <a:avLst/>
          </a:prstGeom>
          <a:noFill/>
          <a:ln/>
        </p:spPr>
        <p:txBody>
          <a:bodyPr wrap="square" rtlCol="0" anchor="ctr"/>
          <a:lstStyle/>
          <a:p>
            <a:pPr indent="0" marL="0">
              <a:buNone/>
            </a:pPr>
            <a:r>
              <a:rPr lang="en-US" sz="2200" b="1" dirty="0">
                <a:solidFill>
                  <a:srgbClr val="146C54"/>
                </a:solidFill>
                <a:latin typeface="Segoe UI" pitchFamily="34" charset="0"/>
                <a:ea typeface="Segoe UI" pitchFamily="34" charset="-122"/>
                <a:cs typeface="Segoe UI" pitchFamily="34" charset="-120"/>
              </a:rPr>
              <a:t>Historical proof: Production 34: Active, Smoke Test Passed</a:t>
            </a:r>
            <a:endParaRPr lang="en-US" sz="2200" dirty="0"/>
          </a:p>
        </p:txBody>
      </p:sp>
      <p:pic>
        <p:nvPicPr>
          <p:cNvPr id="3" name="Image 0" descr="Production 34: Active, Smoke Test Passed">    </p:cNvPr>
          <p:cNvPicPr>
            <a:picLocks noChangeAspect="1"/>
          </p:cNvPicPr>
          <p:nvPr/>
        </p:nvPicPr>
        <p:blipFill>
          <a:blip r:embed="rId1"/>
          <a:stretch>
            <a:fillRect/>
          </a:stretch>
        </p:blipFill>
        <p:spPr>
          <a:xfrm>
            <a:off x="2068830" y="777240"/>
            <a:ext cx="8051292" cy="5367528"/>
          </a:xfrm>
          <a:prstGeom prst="rect">
            <a:avLst/>
          </a:prstGeom>
        </p:spPr>
      </p:pic>
      <p:sp>
        <p:nvSpPr>
          <p:cNvPr id="4" name="Text 1"/>
          <p:cNvSpPr/>
          <p:nvPr/>
        </p:nvSpPr>
        <p:spPr>
          <a:xfrm>
            <a:off x="411480" y="6245352"/>
            <a:ext cx="11338560" cy="256032"/>
          </a:xfrm>
          <a:prstGeom prst="rect">
            <a:avLst/>
          </a:prstGeom>
          <a:noFill/>
          <a:ln/>
        </p:spPr>
        <p:txBody>
          <a:bodyPr wrap="square" rtlCol="0" anchor="ctr"/>
          <a:lstStyle/>
          <a:p>
            <a:pPr indent="0" marL="0">
              <a:buNone/>
            </a:pPr>
            <a:r>
              <a:rPr lang="en-US" sz="1000" dirty="0">
                <a:solidFill>
                  <a:srgbClr val="53635E"/>
                </a:solidFill>
                <a:latin typeface="Segoe UI" pitchFamily="34" charset="0"/>
                <a:ea typeface="Segoe UI" pitchFamily="34" charset="-122"/>
                <a:cs typeface="Segoe UI" pitchFamily="34" charset="-120"/>
              </a:rPr>
              <a:t>Artifact rendering, not a portal screenshot. Synthetic fixtures. Sources and SHA-256 hashes retained.</a:t>
            </a:r>
            <a:endParaRPr lang="en-US" sz="1000" dirty="0"/>
          </a:p>
        </p:txBody>
      </p:sp>
      <p:sp>
        <p:nvSpPr>
          <p:cNvPr id="5" name="Text 2">
            <a:hlinkClick r:id="rId2" tooltip=""/>
          </p:cNvPr>
          <p:cNvSpPr/>
          <p:nvPr/>
        </p:nvSpPr>
        <p:spPr>
          <a:xfrm>
            <a:off x="411480" y="6528816"/>
            <a:ext cx="10515600" cy="201168"/>
          </a:xfrm>
          <a:prstGeom prst="rect">
            <a:avLst/>
          </a:prstGeom>
          <a:noFill/>
          <a:ln/>
        </p:spPr>
        <p:txBody>
          <a:bodyPr wrap="square" rtlCol="0" anchor="ctr"/>
          <a:lstStyle/>
          <a:p>
            <a:pPr indent="0" marL="0">
              <a:buNone/>
            </a:pPr>
            <a:r>
              <a:rPr lang="en-US" sz="900" u="sng" dirty="0">
                <a:solidFill>
                  <a:srgbClr val="075C9B"/>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Actions 34178081808 | f3da486 | 2026-09-08 UTC</a:t>
            </a:r>
            <a:endParaRPr lang="en-US" sz="900" dirty="0"/>
          </a:p>
        </p:txBody>
      </p:sp>
      <p:sp>
        <p:nvSpPr>
          <p:cNvPr id="7" name="Text 3"/>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10 / 36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1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Decision Required</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Frame the single decision Air Canada must make: select a reusable hosting blueprint for LangGraph agents.</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Decision framing: adopt, validate, or defer a hosting blueprint for future LangGraph agents.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Foundry Hosted Agents is the leading PoC candidate — not yet an unconditional production selection.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Release 34427432731 and Continuous Validation 34427429700 passed. Authenticated web pilot, full-history context, real MCP receipts and positive telemetry are implemented; live-data security, capacity, cost and recovery gates remain.</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11 / 36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2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Air Canada's Requirements</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Show the ten enterprise capabilities the PoC must prove.</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Ten capabilities to prove: scaling, MCP tools, multi-agent behavior, evaluations, CI/CD, streaming, state, governance, cost, and production readiness.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These map 1:1 to the Production Decision Gates categories used later in the deck.</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12 / 36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3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Product Landscape — Five Operating Models</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Separate five materially different operating models without conflating open-source LangGraph and paid LangSmith topologies.</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Model 1 — OSS LangGraph on customer-managed Azure compute: Air Canada owns runtime, queueing, scaling, persistence, and recovery.</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Model 2 — LangSmith Deployment Cloud: LangChain operates Agent Server; separate SaaS billing and control plane.</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Model 3 — LangSmith self-hosted Enterprise on Azure: Enterprise license plus customer-operated stack; Azure BYOC is only "planned for 2H 2026."</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Model 4 — Foundry Hosted Agent baseline: Foundry operates session compute; Air Canada owns graph code; no Cosmos DB, no Agent 365.</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Model 4 limits (capacity, SLA) are not yet quantified.</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Model 5 — Phased Foundry target: baseline plus evidence-gated optional extensions (Cosmos DB, Agent 365, continuous evaluation, A2A); each extension individually requires validation.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Full dimension-by-dimension comparison lives in Appendix A.</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13 / 36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4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Recommendation</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Run a phased Foundry PoC with explicit go/no-go gates; separate the stable baseline from optional extensions.</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Recommended baseline: one hosted deployment with a genuine LangGraph supervisor + specialist-agent graph, Responses SSE, external MCP via Foundry connections/Toolbox, Application Insights, and offline evaluations.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Cosmos DB, Agent 365, continuous evaluation, and a second A2A-hosted agent are separate, individually gated experiments — not baseline dependencies.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Why not the other four models: OSS LangGraph = highest engineering burden; LangSmith Cloud = separate SaaS/billing dependency; LangSmith Enterprise = licensing plus highest ops burden; Microsoft Agent Framework not selected because Air Canada has an existing LangGraph investment.</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14 / 36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5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Runtime Architecture — Multi-Agent</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Show genuine multi-agent behavior in one deployment; A2A shown only as a dashed future boundary.</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Graph composition: Supervisor → Evidence Investigator + Risk Analyst → Report Composer, all inside one hosted LangGraph deployment.</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Each role has separate prompts, tool permissions, state contracts, and evaluation criteria despite sharing one deployment.</a:t>
            </a:r>
            <a:endParaRPr lang="en-US" sz="1000" dirty="0"/>
          </a:p>
          <a:p>
            <a:pPr marL="228600" indent="-228600">
              <a:lnSpc>
                <a:spcPct val="112000"/>
              </a:lnSpc>
              <a:buSzPct val="100000"/>
              <a:buChar char="●"/>
            </a:pPr>
            <a:r>
              <a:rPr lang="en-US" sz="1000" b="1" dirty="0">
                <a:solidFill>
                  <a:srgbClr val="0078D4"/>
                </a:solidFill>
                <a:latin typeface="Segoe UI" pitchFamily="34" charset="0"/>
                <a:ea typeface="Segoe UI" pitchFamily="34" charset="-122"/>
                <a:cs typeface="Segoe UI" pitchFamily="34" charset="-120"/>
              </a:rPr>
              <a:t>PREVIEW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Cross-deployment A2A delegation to a second hosted agent is a preview experiment, justified only by independent ownership/release/isolation/scaling needs — not a baseline requirement.</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No documented hard limit on graph node count or depth; the practical constraint is per-session sandbox CPU/memory, stated inconsistently across two Microsoft doc pages (0.5-2 vCPU fixed vs. 0.25-4.0 vCPU continuous).</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15 / 36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6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Tools and MCP</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Separate implementation, hosting, registration, and consumption into four distinct layers.</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Layer 1 — Implementation: custom MCP server code (Defender tools, Anomaly tools).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Layer 2 — Hosting: independent Azure runtime (Container Apps, Functions, or App Service); owns its own auth, networking, versioning, health checks, and throttling.</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Layer 3 — Registration: Foundry connections define endpoint and credential policy per MCP server.</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Layer 3 private-path reachability is untested.</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Layer 4 — Consumption: Foundry Toolbox aggregates registered tools for reuse; LangGraph consumes via supported client libraries.</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Layer 4 private connectivity requires validation.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Toolbox is the registration/aggregation layer, not the hosting runtime for custom MCP server code — a documented distinction to avoid at architecture review.</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16 / 36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7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State and History</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Use the implemented full-history contract; distinguish bounded pilot memory from optional durable persistence.</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Implemented baseline: backend-owned full user/assistant history sent on each request with store:false; no native conversation or previous_response_id. All three specialists receive context.</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Option 2 package (langchain-azure-cosmosdb, CosmosDBSaver) is co-maintained by LangChain and Microsoft.</a:t>
            </a:r>
            <a:endParaRPr lang="en-US" sz="1000" dirty="0"/>
          </a:p>
          <a:p>
            <a:pPr marL="228600" indent="-228600">
              <a:lnSpc>
                <a:spcPct val="112000"/>
              </a:lnSpc>
              <a:buSzPct val="100000"/>
              <a:buChar char="●"/>
            </a:pPr>
            <a:r>
              <a:rPr lang="en-US" sz="1000" b="1" dirty="0">
                <a:solidFill>
                  <a:srgbClr val="5C2D91"/>
                </a:solidFill>
                <a:latin typeface="Segoe UI" pitchFamily="34" charset="0"/>
                <a:ea typeface="Segoe UI" pitchFamily="34" charset="-122"/>
                <a:cs typeface="Segoe UI" pitchFamily="34" charset="-120"/>
              </a:rPr>
              <a:t>INFERRED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Option 2 becomes authoritative graph state only when durable checkpoints, human-in-the-loop pause/resume, time travel, or app-controlled state are required — Hosted Agent pairing is untested.</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Option 3 — Standard Agent Setup via capabilityHosts (BYO Cosmos DB / Storage / AI Search): needed only for data-residency/compliance, a separate Bicep tier from Basic Agent Setup.</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Web sessions are owner-bound and in memory: one-hour TTL, 20 turns; browser reload loses the local list and backend restart loses session history.</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Durable history, retention/deletion policy and resumable execution require separate design and approval. Completed-message replay is bounded to the live session, not durable exactly-once execution.</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17 / 36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8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Scaling and Cost</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Show that the scaling model is understood, but capacity and price are not yet quantified — unknowns stay visible.</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Scaling model: per-session isolation (each session is its own VM-isolated sandbox), not per-replica; idle timeout 5-60 min (default 15) triggers scale-to-zero with automatic state restore.</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Billing model: vCPU-hour + GiB-hour of active session compute only — closest to Azure Container Apps consumption plan, not AKS always-on or App Service continuous billing.</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Unknown / TBD: exact $/vCPU-hr and $/GiB-hr rates (public pricing page showed "N/A"); maximum concurrent sessions; requests-per-second ceiling; same-thread turn concurrency; cold-start latency distribution.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Known cost drivers (formulas, not totals): model tokens, active session vCPU/memory, idle window, MCP hosting, telemetry, evaluation tokens, optional Cosmos DB and Agent 365 licensing, operations labor — amounts require validation.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Approved staging capacity: 50k TPM / 500 RPM; production remains 10k TPM / 100 RPM. Five concurrent streams passed after three correlated model-429 failures; this does not establish saturation capacity or SLA.</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18 / 36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9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Evaluation</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Gate production releases on security-task outcomes, not generic fluency.</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Baseline: offline evaluation of versioned candidate outputs against a human-reviewed golden dataset (true/false positives, ambiguous evidence, missing data, conflicting tools, prompt injection, unauthorized actions, unsupported conclusions).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Eight reviewed scenarios, strict runtime receipt requirements and zero policy failures required; the injection case uses verified safety refusal with no tools, not a judge pass.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Executed model judges: coherence, groundedness, task adherence. Seven reports per metric, 21/21 passes; each threshold remains 100%.</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Human review required for high-impact vulnerability conclusions and any recommendation triggering remediation or operational change.</a:t>
            </a:r>
            <a:endParaRPr lang="en-US" sz="1000" dirty="0"/>
          </a:p>
          <a:p>
            <a:pPr marL="228600" indent="-228600">
              <a:lnSpc>
                <a:spcPct val="112000"/>
              </a:lnSpc>
              <a:buSzPct val="100000"/>
              <a:buChar char="●"/>
            </a:pPr>
            <a:r>
              <a:rPr lang="en-US" sz="1000" b="1" dirty="0">
                <a:solidFill>
                  <a:srgbClr val="0078D4"/>
                </a:solidFill>
                <a:latin typeface="Segoe UI" pitchFamily="34" charset="0"/>
                <a:ea typeface="Segoe UI" pitchFamily="34" charset="-122"/>
                <a:cs typeface="Segoe UI" pitchFamily="34" charset="-120"/>
              </a:rPr>
              <a:t>PREVIEW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Continuous evaluation of sampled production traffic is a separate preview and privacy decision — redaction and retention must be defined before enabling.</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Custom hosted capture/evaluation runner targets the discovered staging version via scripts/invoke-agent.sh. Missing, duplicate, errored, or skipped results fail closed. No third-party evaluation Action is used.</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19 / 36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10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Automation (CI/CD)</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Verified staging-to-production path, normal approvals, and explicit manual recovery boundaries.</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Passed run 34427432731: lint/tests -&gt; Bicep/what-if -&gt; isolated staging -&gt; smoke/contract/history -&gt; evaluation -&gt; production approval/deploy -&gt; approved smoke/monitoring. Compatibility workflow delegates to this same path.</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MCP images use the evaluated SHA-256 digests. The agent is remotely rebuilt from the same source, not promoted as an identical runtime binary.</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No automatic rollback or canary. Recovery job signals manual action; rehearse route and infrastructure recovery before live-data production.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Bicep provisions infrastructure; azd or Foundry APIs deploy agent versions as a separate lifecycle from infrastructure changes.</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Evaluations run against a non-production candidate before traffic promotion; continuous evaluation (if approved) monitors production after release and does not replace the release gate.</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20 / 36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11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Governance and Readiness</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Separate confirmed identity/RBAC controls from validation tracks and open blockers.</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Runtime instance identity is distinct from CI OIDC and Blueprint identities. Checked account-scoped runtime roles: Foundry User and Cognitive Services OpenAI User.</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Production smoke and response-ID-correlated AppTraces ingestion passed before the zero-exception check. This proves ingestion, not complete span coverage or sustained health.</a:t>
            </a:r>
            <a:endParaRPr lang="en-US" sz="1000" dirty="0"/>
          </a:p>
          <a:p>
            <a:pPr marL="228600" indent="-228600">
              <a:lnSpc>
                <a:spcPct val="112000"/>
              </a:lnSpc>
              <a:buSzPct val="100000"/>
              <a:buChar char="●"/>
            </a:pPr>
            <a:r>
              <a:rPr lang="en-US" sz="1000" b="1" dirty="0">
                <a:solidFill>
                  <a:srgbClr val="5C2D91"/>
                </a:solidFill>
                <a:latin typeface="Segoe UI" pitchFamily="34" charset="0"/>
                <a:ea typeface="Segoe UI" pitchFamily="34" charset="-122"/>
                <a:cs typeface="Segoe UI" pitchFamily="34" charset="-120"/>
              </a:rPr>
              <a:t>INFERRED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Agent 365 governance/registry onboarding: Agent 365 and Entra Agent ID are GA; SDK packages exist for Foundry tooling and LangChain observability — but no dedicated Hosted Agent onboarding guide, no confirmed LangGraph-specific package, and no proof a platform-created identity can be migrated in place.</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Platform SLA / GA status / regions / quotas / capacity / cold starts / disaster recovery — first Production Decision Gate item.</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21 / 36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0078D4"/>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0078D4"/>
                </a:solidFill>
                <a:latin typeface="Segoe UI" pitchFamily="34" charset="0"/>
                <a:ea typeface="Segoe UI" pitchFamily="34" charset="-122"/>
                <a:cs typeface="Segoe UI" pitchFamily="34" charset="-120"/>
              </a:rPr>
              <a:t>CORE SLIDE 12 OF 12</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PoC Plan and Decision Gates</a:t>
            </a:r>
            <a:endParaRPr lang="en-US" sz="2600" dirty="0"/>
          </a:p>
        </p:txBody>
      </p:sp>
      <p:sp>
        <p:nvSpPr>
          <p:cNvPr id="5" name="Text 3"/>
          <p:cNvSpPr/>
          <p:nvPr/>
        </p:nvSpPr>
        <p:spPr>
          <a:xfrm>
            <a:off x="457200" y="1078992"/>
            <a:ext cx="11247120" cy="365760"/>
          </a:xfrm>
          <a:prstGeom prst="rect">
            <a:avLst/>
          </a:prstGeom>
          <a:noFill/>
          <a:ln/>
        </p:spPr>
        <p:txBody>
          <a:bodyPr wrap="square" rtlCol="0" anchor="ctr"/>
          <a:lstStyle/>
          <a:p>
            <a:pPr indent="0" marL="0">
              <a:buNone/>
            </a:pPr>
            <a:r>
              <a:rPr lang="en-US" sz="1300" i="1" dirty="0">
                <a:solidFill>
                  <a:srgbClr val="484848"/>
                </a:solidFill>
                <a:latin typeface="Segoe UI" pitchFamily="34" charset="0"/>
                <a:ea typeface="Segoe UI" pitchFamily="34" charset="-122"/>
                <a:cs typeface="Segoe UI" pitchFamily="34" charset="-120"/>
              </a:rPr>
              <a:t>Four increments produce a defensible production decision, with owners, exit criteria, and a decision date.</a:t>
            </a:r>
            <a:endParaRPr lang="en-US" sz="1300" dirty="0"/>
          </a:p>
        </p:txBody>
      </p:sp>
      <p:sp>
        <p:nvSpPr>
          <p:cNvPr id="6" name="Shape 4"/>
          <p:cNvSpPr/>
          <p:nvPr/>
        </p:nvSpPr>
        <p:spPr>
          <a:xfrm>
            <a:off x="457200" y="1481328"/>
            <a:ext cx="11247120" cy="10973"/>
          </a:xfrm>
          <a:prstGeom prst="rect">
            <a:avLst/>
          </a:prstGeom>
          <a:solidFill>
            <a:srgbClr val="E1E5E8"/>
          </a:solidFill>
          <a:ln/>
        </p:spPr>
      </p:sp>
      <p:sp>
        <p:nvSpPr>
          <p:cNvPr id="7" name="Text 5"/>
          <p:cNvSpPr/>
          <p:nvPr/>
        </p:nvSpPr>
        <p:spPr>
          <a:xfrm>
            <a:off x="502920" y="1691640"/>
            <a:ext cx="11155680" cy="4709160"/>
          </a:xfrm>
          <a:prstGeom prst="rect">
            <a:avLst/>
          </a:prstGeom>
          <a:noFill/>
          <a:ln/>
        </p:spPr>
        <p:txBody>
          <a:bodyPr wrap="square" rtlCol="0" anchor="t"/>
          <a:lstStyle/>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Increment 1 delivered: supervisor + 3 specialists, Responses SSE, full caller-supplied history with store:false, authenticated web pilot; Bicep provisioning and azd deployment. Native persisted history is not the pilot contract.</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Increment 2 delivered: separate staging/production MCP apps, RemoteTool connections, versioned MCP transport, strict specialist allowlists. Public PoC ingress; private/authenticated upstream access remains a gate.</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Increment 3 — Offline Security Evaluation Suite &amp; Automated CI/CD Gates: versioned golden dataset; deterministic schema checks + LLM-as-judge rubrics; GitHub Actions gate with threshold-gated promotion.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Increment 4 — Validation Tracks, Load Testing &amp; Production Decision Gates: Load &amp; Scale Gate, State Experiment Track, Governance Validation Track, Continuous Evaluation Track, Deliverable Synthesis — plan of record; individual track outcomes require validation.</a:t>
            </a:r>
            <a:endParaRPr lang="en-US" sz="1000" dirty="0"/>
          </a:p>
          <a:p>
            <a:pPr marL="228600" indent="-228600">
              <a:lnSpc>
                <a:spcPct val="112000"/>
              </a:lnSpc>
              <a:buSzPct val="100000"/>
              <a:buChar char="●"/>
            </a:pPr>
            <a:r>
              <a:rPr lang="en-US" sz="100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Decision gates requiring evidence before production approval: Platform status, Scale, Security, Data, Quality, Operations, Cost, Preview acceptance — full list in Appendix H.</a:t>
            </a:r>
            <a:endParaRPr lang="en-US" sz="1000" dirty="0"/>
          </a:p>
          <a:p>
            <a:pPr marL="228600" indent="-228600">
              <a:lnSpc>
                <a:spcPct val="112000"/>
              </a:lnSpc>
              <a:buSzPct val="100000"/>
              <a:buChar char="●"/>
            </a:pPr>
            <a:r>
              <a:rPr lang="en-US" sz="100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00" dirty="0">
                <a:solidFill>
                  <a:srgbClr val="1A1A1A"/>
                </a:solidFill>
                <a:latin typeface="Segoe UI" pitchFamily="34" charset="0"/>
                <a:ea typeface="Segoe UI" pitchFamily="34" charset="-122"/>
                <a:cs typeface="Segoe UI" pitchFamily="34" charset="-120"/>
              </a:rPr>
              <a:t>Owners and decision date: not specified in the research document — open item for the presenting team to fill in before delivery.</a:t>
            </a:r>
            <a:endParaRPr lang="en-US" sz="1000" dirty="0"/>
          </a:p>
        </p:txBody>
      </p:sp>
      <p:sp>
        <p:nvSpPr>
          <p:cNvPr id="9" name="Shape 6"/>
          <p:cNvSpPr/>
          <p:nvPr/>
        </p:nvSpPr>
        <p:spPr>
          <a:xfrm>
            <a:off x="0" y="6784848"/>
            <a:ext cx="12188952" cy="27432"/>
          </a:xfrm>
          <a:prstGeom prst="rect">
            <a:avLst/>
          </a:prstGeom>
          <a:solidFill>
            <a:srgbClr val="E1E5E8"/>
          </a:solidFill>
          <a:ln/>
        </p:spPr>
      </p:sp>
      <p:sp>
        <p:nvSpPr>
          <p:cNvPr id="10" name="Text 7"/>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a:t>
            </a:r>
            <a:endParaRPr lang="en-US" sz="900" dirty="0"/>
          </a:p>
        </p:txBody>
      </p:sp>
      <p:sp>
        <p:nvSpPr>
          <p:cNvPr id="11" name="Text 8"/>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22 / 36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A (1 of 3) — Five-Option Comparison Matrix</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1554480"/>
                <a:gridCol w="1975104"/>
                <a:gridCol w="1975104"/>
                <a:gridCol w="1975104"/>
                <a:gridCol w="1975104"/>
                <a:gridCol w="1975104"/>
              </a:tblGrid>
              <a:tr h="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Dimension</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OSS LangGraph on Azure compute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LangSmith Deployment Cloud</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LangSmith self-hosted Enterprise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Foundry Hosted Agent baseline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Phased Foundry target</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Runtime ownership</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Air Canada operates API, queue, scaling, persistence, recovery</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LangChain operates Agent Server</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Air Canada operates LangSmith stack on Azure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Foundry operates session compute; Air Canada owns graph code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as baseline plus evidence-approved extensions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License and billing</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No LangSmith hosting license; Azure compute/ops costs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LangSmith seats plus LCU/LSU usage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Enterprise license plus Azure infra/ops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Azure model, session compute, MCP hosting, telemetry</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Baseline plus Cosmos DB and any Agent 365 licenses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Azure fit</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Full Azure control, highest engineering burden</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Separate SaaS control and billing plane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Azure-hosted but separate licensed platform</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Azure-native project, identity, deployment, monitoring</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Azure-native runtime with optional M365 governance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Scaling evidence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Determined by chosen App Service/Container Apps/AKS design</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Managed by LangChain service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Customer-operated Kubernetes scaling</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Per-session isolation and scale-to-zero documented; limits/SLA unverified</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as baseline; dependencies add their own limits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bl>
          </a:graphicData>
        </a:graphic>
      </p:graphicFrame>
      <p:sp>
        <p:nvSpPr>
          <p:cNvPr id="7" name="Text 4"/>
          <p:cNvSpPr/>
          <p:nvPr/>
        </p:nvSpPr>
        <p:spPr>
          <a:xfrm>
            <a:off x="365760" y="6263640"/>
            <a:ext cx="11430000" cy="411480"/>
          </a:xfrm>
          <a:prstGeom prst="rect">
            <a:avLst/>
          </a:prstGeom>
          <a:noFill/>
          <a:ln/>
        </p:spPr>
        <p:txBody>
          <a:bodyPr wrap="square" rtlCol="0" anchor="ctr"/>
          <a:lstStyle/>
          <a:p>
            <a:pPr indent="0" marL="0">
              <a:buNone/>
            </a:pPr>
            <a:r>
              <a:rPr lang="en-US" sz="950" i="1" dirty="0">
                <a:solidFill>
                  <a:srgbClr val="484848"/>
                </a:solidFill>
                <a:latin typeface="Segoe UI" pitchFamily="34" charset="0"/>
                <a:ea typeface="Segoe UI" pitchFamily="34" charset="-122"/>
                <a:cs typeface="Segoe UI" pitchFamily="34" charset="-120"/>
              </a:rPr>
              <a:t>Confidence: confirmed as a comparative synthesis of the five scenarios (each cell carries the same confidence tag as its corresponding scenario section, Core Slides 3-4).</a:t>
            </a:r>
            <a:endParaRPr lang="en-US" sz="950" dirty="0"/>
          </a:p>
        </p:txBody>
      </p:sp>
      <p:sp>
        <p:nvSpPr>
          <p:cNvPr id="9" name="Shape 5"/>
          <p:cNvSpPr/>
          <p:nvPr/>
        </p:nvSpPr>
        <p:spPr>
          <a:xfrm>
            <a:off x="0" y="6784848"/>
            <a:ext cx="12188952" cy="27432"/>
          </a:xfrm>
          <a:prstGeom prst="rect">
            <a:avLst/>
          </a:prstGeom>
          <a:solidFill>
            <a:srgbClr val="E1E5E8"/>
          </a:solidFill>
          <a:ln/>
        </p:spPr>
      </p:sp>
      <p:sp>
        <p:nvSpPr>
          <p:cNvPr id="10"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1"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23 / 36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A (2 of 3) — Five-Option Comparison Matrix</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1554480"/>
                <a:gridCol w="1975104"/>
                <a:gridCol w="1975104"/>
                <a:gridCol w="1975104"/>
                <a:gridCol w="1975104"/>
                <a:gridCol w="1975104"/>
              </a:tblGrid>
              <a:tr h="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Dimension</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OSS LangGraph on Azure compute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LangSmith Deployment Cloud</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LangSmith self-hosted Enterprise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Foundry Hosted Agent baseline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Phased Foundry target</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Tools and MCP</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Customer builds hosting, auth, registry, reuse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LangGraph and custom MCP patterns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as Cloud but customer-operated</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External MCP runtime plus Foundry connection and Toolbox aggregation</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as baseline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Multi-agent</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Native LangGraph supervisor, subgraphs, handoffs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plus Agent Server services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plus self-hosted Agent Server services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Native LangGraph supervisor and specialist agents in one deployment</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Optional A2A split after preview and boundary gates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Streaming</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Implement/operate selected LangGraph stream modes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Agent Server streaming</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Agent Server streaming, customer-operated</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Responses SSE confirmed; full LangGraph event parity unverified</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Same as baseline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State and history</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Customer selects/operates checkpointer and conversation index</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Native Agent Server threads and runs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Native Agent Server storage, customer-operated</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Full input history; in-memory app sessions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Optional Cosmos graph checkpoints or Standard platform dependencies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bl>
          </a:graphicData>
        </a:graphic>
      </p:graphicFrame>
      <p:sp>
        <p:nvSpPr>
          <p:cNvPr id="7" name="Text 4"/>
          <p:cNvSpPr/>
          <p:nvPr/>
        </p:nvSpPr>
        <p:spPr>
          <a:xfrm>
            <a:off x="365760" y="6263640"/>
            <a:ext cx="11430000" cy="411480"/>
          </a:xfrm>
          <a:prstGeom prst="rect">
            <a:avLst/>
          </a:prstGeom>
          <a:noFill/>
          <a:ln/>
        </p:spPr>
        <p:txBody>
          <a:bodyPr wrap="square" rtlCol="0" anchor="ctr"/>
          <a:lstStyle/>
          <a:p>
            <a:pPr indent="0" marL="0">
              <a:buNone/>
            </a:pPr>
            <a:r>
              <a:rPr lang="en-US" sz="950" i="1" dirty="0">
                <a:solidFill>
                  <a:srgbClr val="484848"/>
                </a:solidFill>
                <a:latin typeface="Segoe UI" pitchFamily="34" charset="0"/>
                <a:ea typeface="Segoe UI" pitchFamily="34" charset="-122"/>
                <a:cs typeface="Segoe UI" pitchFamily="34" charset="-120"/>
              </a:rPr>
              <a:t>Confidence: confirmed as a comparative synthesis of the five scenarios (each cell carries the same confidence tag as its corresponding scenario section, Core Slides 3-4).</a:t>
            </a:r>
            <a:endParaRPr lang="en-US" sz="950" dirty="0"/>
          </a:p>
        </p:txBody>
      </p:sp>
      <p:sp>
        <p:nvSpPr>
          <p:cNvPr id="9" name="Shape 5"/>
          <p:cNvSpPr/>
          <p:nvPr/>
        </p:nvSpPr>
        <p:spPr>
          <a:xfrm>
            <a:off x="0" y="6784848"/>
            <a:ext cx="12188952" cy="27432"/>
          </a:xfrm>
          <a:prstGeom prst="rect">
            <a:avLst/>
          </a:prstGeom>
          <a:solidFill>
            <a:srgbClr val="E1E5E8"/>
          </a:solidFill>
          <a:ln/>
        </p:spPr>
      </p:sp>
      <p:sp>
        <p:nvSpPr>
          <p:cNvPr id="10"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1"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24 / 36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A (3 of 3) — Five-Option Comparison Matrix</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1554480"/>
                <a:gridCol w="1975104"/>
                <a:gridCol w="1975104"/>
                <a:gridCol w="1975104"/>
                <a:gridCol w="1975104"/>
                <a:gridCol w="1975104"/>
              </a:tblGrid>
              <a:tr h="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Dimension</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OSS LangGraph on Azure compute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LangSmith Deployment Cloud</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LangSmith self-hosted Enterprise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Foundry Hosted Agent baseline</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Phased Foundry target</a:t>
                      </a:r>
                      <a:endParaRPr lang="en-US" sz="9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Evaluations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Customer-authored pipeline; Foundry batch evaluation can still score outputs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LangSmith evaluation stack</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LangSmith evaluation stack</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Hosted capture plus Foundry judges: 21/21 passed</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Optional continuous evaluation after privacy and identity validation</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Governance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Azure-native controls designed by customer</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LangSmith Enterprise controls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LangSmith controls plus Azure infra controls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Per-agent Entra identity, Foundry RBAC, Application Insights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Optional Agent 365 onboarding after tenant validation</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Operational burden</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High</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Low to medium</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Highest</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Lowest candidate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Medium, proportional to selected extensions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Best fit</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Maximum control without paid Agent Server features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Teams already buying LangSmith, accepting SaaS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Teams requiring LangSmith features and customer-owned data plane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Air Canada PoC baseline</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800" dirty="0">
                          <a:solidFill>
                            <a:srgbClr val="1A1A1A"/>
                          </a:solidFill>
                          <a:latin typeface="Segoe UI" pitchFamily="34" charset="0"/>
                          <a:ea typeface="Segoe UI" pitchFamily="34" charset="-122"/>
                          <a:cs typeface="Segoe UI" pitchFamily="34" charset="-120"/>
                        </a:rPr>
                        <a:t>Conditional production target after gates pass</a:t>
                      </a:r>
                      <a:endParaRPr lang="en-US" sz="8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bl>
          </a:graphicData>
        </a:graphic>
      </p:graphicFrame>
      <p:sp>
        <p:nvSpPr>
          <p:cNvPr id="7" name="Text 4"/>
          <p:cNvSpPr/>
          <p:nvPr/>
        </p:nvSpPr>
        <p:spPr>
          <a:xfrm>
            <a:off x="365760" y="6263640"/>
            <a:ext cx="11430000" cy="411480"/>
          </a:xfrm>
          <a:prstGeom prst="rect">
            <a:avLst/>
          </a:prstGeom>
          <a:noFill/>
          <a:ln/>
        </p:spPr>
        <p:txBody>
          <a:bodyPr wrap="square" rtlCol="0" anchor="ctr"/>
          <a:lstStyle/>
          <a:p>
            <a:pPr indent="0" marL="0">
              <a:buNone/>
            </a:pPr>
            <a:r>
              <a:rPr lang="en-US" sz="950" i="1" dirty="0">
                <a:solidFill>
                  <a:srgbClr val="484848"/>
                </a:solidFill>
                <a:latin typeface="Segoe UI" pitchFamily="34" charset="0"/>
                <a:ea typeface="Segoe UI" pitchFamily="34" charset="-122"/>
                <a:cs typeface="Segoe UI" pitchFamily="34" charset="-120"/>
              </a:rPr>
              <a:t>Confidence: confirmed as a comparative synthesis of the five scenarios (each cell carries the same confidence tag as its corresponding scenario section, Core Slides 3-4).</a:t>
            </a:r>
            <a:endParaRPr lang="en-US" sz="950" dirty="0"/>
          </a:p>
        </p:txBody>
      </p:sp>
      <p:sp>
        <p:nvSpPr>
          <p:cNvPr id="9" name="Shape 5"/>
          <p:cNvSpPr/>
          <p:nvPr/>
        </p:nvSpPr>
        <p:spPr>
          <a:xfrm>
            <a:off x="0" y="6784848"/>
            <a:ext cx="12188952" cy="27432"/>
          </a:xfrm>
          <a:prstGeom prst="rect">
            <a:avLst/>
          </a:prstGeom>
          <a:solidFill>
            <a:srgbClr val="E1E5E8"/>
          </a:solidFill>
          <a:ln/>
        </p:spPr>
      </p:sp>
      <p:sp>
        <p:nvSpPr>
          <p:cNvPr id="10"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1"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25 / 36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B (1 of 2) — Evidence Confidence Register</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3291840"/>
                <a:gridCol w="2377440"/>
                <a:gridCol w="5760720"/>
              </a:tblGrid>
              <a:tr h="0">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Capability</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Confidence</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Customer-facing statement</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LangGraph hosted as custom Foundry code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Confirmed by product documentation and samples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Suitable for PoC implementation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Responses SSE progressive output</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Smoke, contract, streaming checks passed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Reconnect, cancellation and complete UI parity remain separate tests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Per-session isolation and scale-to-zero</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Confirmed mechanism; limits and SLA unknown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Promising scaling model, not yet a capacity commitment</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External MCP plus connection and Toolbox aggregation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Documented pattern; private path untested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Recommended decoupling design, subject to network and auth validation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Supervisor and specialist agents in one graph</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Confirmed LangGraph pattern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Production baseline for genuine multi-agent behavior</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Cross-deployment A2A delegation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Sampled but preview</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Optional experiment, not a baseline dependency</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Pilot conversation contract</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Full supplied history verified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store:false; no native IDs; owner-bound in-memory sessions, not durable persistence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bl>
          </a:graphicData>
        </a:graphic>
      </p:graphicFrame>
      <p:sp>
        <p:nvSpPr>
          <p:cNvPr id="8" name="Shape 4"/>
          <p:cNvSpPr/>
          <p:nvPr/>
        </p:nvSpPr>
        <p:spPr>
          <a:xfrm>
            <a:off x="0" y="6784848"/>
            <a:ext cx="12188952" cy="27432"/>
          </a:xfrm>
          <a:prstGeom prst="rect">
            <a:avLst/>
          </a:prstGeom>
          <a:solidFill>
            <a:srgbClr val="E1E5E8"/>
          </a:solidFill>
          <a:ln/>
        </p:spPr>
      </p:sp>
      <p:sp>
        <p:nvSpPr>
          <p:cNvPr id="9" name="Text 5"/>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6"/>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26 / 36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B (2 of 2) — Evidence Confidence Register</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3291840"/>
                <a:gridCol w="2377440"/>
                <a:gridCol w="5760720"/>
              </a:tblGrid>
              <a:tr h="0">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Capability</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Confidence</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Customer-facing statement</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Cosmos DB LangGraph checkpointer</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Package confirmed; Hosted Agent pairing untested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Conditional state experiment</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Offline and batch evaluation of LangGraph outputs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Confirmed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Baseline release-gate mechanism</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Continuous evaluation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Documented but preview</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Optional production-monitoring experiment</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Hosted capture/evaluation pipeline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Verified on staging v6; 21/21 passed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Custom runner; native portal screenshot unavailable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Agent 365 onboarding and LangGraph instrumentation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Partially evidenced, exact path unverified</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Governance option to validate, not a confirmed architecture property</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Hosted Agent pricing, quotas, and SLA</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Insufficient current evidence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Obtain live commercial and platform confirmation before production decision</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bl>
          </a:graphicData>
        </a:graphic>
      </p:graphicFrame>
      <p:sp>
        <p:nvSpPr>
          <p:cNvPr id="7" name="Text 4"/>
          <p:cNvSpPr/>
          <p:nvPr/>
        </p:nvSpPr>
        <p:spPr>
          <a:xfrm>
            <a:off x="365760" y="6263640"/>
            <a:ext cx="11430000" cy="411480"/>
          </a:xfrm>
          <a:prstGeom prst="rect">
            <a:avLst/>
          </a:prstGeom>
          <a:noFill/>
          <a:ln/>
        </p:spPr>
        <p:txBody>
          <a:bodyPr wrap="square" rtlCol="0" anchor="ctr"/>
          <a:lstStyle/>
          <a:p>
            <a:pPr indent="0" marL="0">
              <a:buNone/>
            </a:pPr>
            <a:r>
              <a:rPr lang="en-US" sz="950" i="1" dirty="0">
                <a:solidFill>
                  <a:srgbClr val="484848"/>
                </a:solidFill>
                <a:latin typeface="Segoe UI" pitchFamily="34" charset="0"/>
                <a:ea typeface="Segoe UI" pitchFamily="34" charset="-122"/>
                <a:cs typeface="Segoe UI" pitchFamily="34" charset="-120"/>
              </a:rPr>
              <a:t>This register is the source mapping for every CONFIRMED / PREVIEW / INFERRED / REQUIRES VALIDATION tag used throughout this deck.</a:t>
            </a:r>
            <a:endParaRPr lang="en-US" sz="950" dirty="0"/>
          </a:p>
        </p:txBody>
      </p:sp>
      <p:sp>
        <p:nvSpPr>
          <p:cNvPr id="9" name="Shape 5"/>
          <p:cNvSpPr/>
          <p:nvPr/>
        </p:nvSpPr>
        <p:spPr>
          <a:xfrm>
            <a:off x="0" y="6784848"/>
            <a:ext cx="12188952" cy="27432"/>
          </a:xfrm>
          <a:prstGeom prst="rect">
            <a:avLst/>
          </a:prstGeom>
          <a:solidFill>
            <a:srgbClr val="E1E5E8"/>
          </a:solidFill>
          <a:ln/>
        </p:spPr>
      </p:sp>
      <p:sp>
        <p:nvSpPr>
          <p:cNvPr id="10"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1"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27 / 36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C — Cost Assumptions</a:t>
            </a:r>
            <a:endParaRPr lang="en-US" sz="2600" dirty="0"/>
          </a:p>
        </p:txBody>
      </p:sp>
      <p:sp>
        <p:nvSpPr>
          <p:cNvPr id="5" name="Shape 3"/>
          <p:cNvSpPr/>
          <p:nvPr/>
        </p:nvSpPr>
        <p:spPr>
          <a:xfrm>
            <a:off x="457200" y="1188720"/>
            <a:ext cx="11247120" cy="10973"/>
          </a:xfrm>
          <a:prstGeom prst="rect">
            <a:avLst/>
          </a:prstGeom>
          <a:solidFill>
            <a:srgbClr val="E1E5E8"/>
          </a:solidFill>
          <a:ln/>
        </p:spPr>
      </p:sp>
      <p:sp>
        <p:nvSpPr>
          <p:cNvPr id="6" name="Text 4"/>
          <p:cNvSpPr/>
          <p:nvPr/>
        </p:nvSpPr>
        <p:spPr>
          <a:xfrm>
            <a:off x="502920" y="1554480"/>
            <a:ext cx="11155680" cy="4297680"/>
          </a:xfrm>
          <a:prstGeom prst="rect">
            <a:avLst/>
          </a:prstGeom>
          <a:noFill/>
          <a:ln/>
        </p:spPr>
        <p:txBody>
          <a:bodyPr wrap="square" rtlCol="0" anchor="t"/>
          <a:lstStyle/>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Cost drivers: model tokens, active session vCPU-hour + GiB-hour compute, idle window duration, MCP hosting compute, telemetry (Application Insights), evaluation tokens, optional Cosmos DB (RU + storage), optional Agent 365 licensing, operations labor.</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Billing shape: pay only for active session compute while a session sandbox is warm; scale-to-zero on idle timeout (5-60 min, default 15 min) — architecturally closest to Azure Container Apps consumption plan.</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Unknown / TBD: exact $/vCPU-hr and $/GiB-hr session-compute rates (public pricing page returned "N/A" at research time); real workload token/session volumes; Cosmos DB RU consumption under load; Agent 365 add-on pricing per license tier.</a:t>
            </a:r>
            <a:endParaRPr lang="en-US" sz="1150" dirty="0"/>
          </a:p>
        </p:txBody>
      </p:sp>
      <p:sp>
        <p:nvSpPr>
          <p:cNvPr id="7" name="Shape 5"/>
          <p:cNvSpPr/>
          <p:nvPr/>
        </p:nvSpPr>
        <p:spPr>
          <a:xfrm>
            <a:off x="502920" y="5897880"/>
            <a:ext cx="11155680" cy="9144"/>
          </a:xfrm>
          <a:prstGeom prst="rect">
            <a:avLst/>
          </a:prstGeom>
          <a:solidFill>
            <a:srgbClr val="E1E5E8"/>
          </a:solidFill>
          <a:ln/>
        </p:spPr>
      </p:sp>
      <p:sp>
        <p:nvSpPr>
          <p:cNvPr id="8" name="Text 6"/>
          <p:cNvSpPr/>
          <p:nvPr/>
        </p:nvSpPr>
        <p:spPr>
          <a:xfrm>
            <a:off x="502920" y="5989320"/>
            <a:ext cx="11155680" cy="502920"/>
          </a:xfrm>
          <a:prstGeom prst="rect">
            <a:avLst/>
          </a:prstGeom>
          <a:noFill/>
          <a:ln/>
        </p:spPr>
        <p:txBody>
          <a:bodyPr wrap="square" rtlCol="0" anchor="ctr"/>
          <a:lstStyle/>
          <a:p>
            <a:pPr indent="0" marL="0">
              <a:buNone/>
            </a:pPr>
            <a:r>
              <a:rPr lang="en-US" sz="1050" i="1" dirty="0">
                <a:solidFill>
                  <a:srgbClr val="484848"/>
                </a:solidFill>
                <a:latin typeface="Segoe UI" pitchFamily="34" charset="0"/>
                <a:ea typeface="Segoe UI" pitchFamily="34" charset="-122"/>
                <a:cs typeface="Segoe UI" pitchFamily="34" charset="-120"/>
              </a:rPr>
              <a:t>Slide recommendation: present a cost formula (tokens × rate + session-compute-hours × rate + fixed telemetry/MCP hosting + optional extensions), leaving rate cells as "unknown / TBD — Azure Pricing Calculator required." No slide may present an unverified figure as a specific number.</a:t>
            </a:r>
            <a:endParaRPr lang="en-US" sz="1050" dirty="0"/>
          </a:p>
        </p:txBody>
      </p:sp>
      <p:sp>
        <p:nvSpPr>
          <p:cNvPr id="10" name="Shape 7"/>
          <p:cNvSpPr/>
          <p:nvPr/>
        </p:nvSpPr>
        <p:spPr>
          <a:xfrm>
            <a:off x="0" y="6784848"/>
            <a:ext cx="12188952" cy="27432"/>
          </a:xfrm>
          <a:prstGeom prst="rect">
            <a:avLst/>
          </a:prstGeom>
          <a:solidFill>
            <a:srgbClr val="E1E5E8"/>
          </a:solidFill>
          <a:ln/>
        </p:spPr>
      </p:sp>
      <p:sp>
        <p:nvSpPr>
          <p:cNvPr id="11" name="Text 8"/>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2" name="Text 9"/>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28 / 36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D — Evaluation Rubric</a:t>
            </a:r>
            <a:endParaRPr lang="en-US" sz="2600" dirty="0"/>
          </a:p>
        </p:txBody>
      </p:sp>
      <p:sp>
        <p:nvSpPr>
          <p:cNvPr id="5" name="Shape 3"/>
          <p:cNvSpPr/>
          <p:nvPr/>
        </p:nvSpPr>
        <p:spPr>
          <a:xfrm>
            <a:off x="457200" y="1188720"/>
            <a:ext cx="11247120" cy="10973"/>
          </a:xfrm>
          <a:prstGeom prst="rect">
            <a:avLst/>
          </a:prstGeom>
          <a:solidFill>
            <a:srgbClr val="E1E5E8"/>
          </a:solidFill>
          <a:ln/>
        </p:spPr>
      </p:sp>
      <p:sp>
        <p:nvSpPr>
          <p:cNvPr id="6" name="Text 4"/>
          <p:cNvSpPr/>
          <p:nvPr/>
        </p:nvSpPr>
        <p:spPr>
          <a:xfrm>
            <a:off x="502920" y="1554480"/>
            <a:ext cx="11155680" cy="4846320"/>
          </a:xfrm>
          <a:prstGeom prst="rect">
            <a:avLst/>
          </a:prstGeom>
          <a:noFill/>
          <a:ln/>
        </p:spPr>
        <p:txBody>
          <a:bodyPr wrap="square" rtlCol="0" anchor="t"/>
          <a:lstStyle/>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Golden dataset composition: true positives, false positives, ambiguous evidence, missing data, conflicting tools, prompt injection, unauthorized actions, unsupported conclusions.</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Executed gate: trusted runtime evidence, required receipts, policy constraints, exact safety refusal; seven reports pass coherence, groundedness, and task adherence.</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Tool argument accuracy, latency, token use, and session compute need separate acceptance measures. Receipt presence or judge passes do not establish every proposed rubric dimension.</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Human review gate required for high-impact vulnerability conclusions and any recommendation triggering remediation or operational change.</a:t>
            </a:r>
            <a:endParaRPr lang="en-US" sz="1150" dirty="0"/>
          </a:p>
          <a:p>
            <a:pPr marL="228600" indent="-228600">
              <a:lnSpc>
                <a:spcPct val="112000"/>
              </a:lnSpc>
              <a:buSzPct val="100000"/>
              <a:buChar char="●"/>
            </a:pPr>
            <a:r>
              <a:rPr lang="en-US" sz="1150" b="1" dirty="0">
                <a:solidFill>
                  <a:srgbClr val="0078D4"/>
                </a:solidFill>
                <a:latin typeface="Segoe UI" pitchFamily="34" charset="0"/>
                <a:ea typeface="Segoe UI" pitchFamily="34" charset="-122"/>
                <a:cs typeface="Segoe UI" pitchFamily="34" charset="-120"/>
              </a:rPr>
              <a:t>PREVIEW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Production sampling: continuous evaluation is a separate preview/privacy decision; redact sensitive content and define retention before enabling.</a:t>
            </a:r>
            <a:endParaRPr lang="en-US" sz="1150" dirty="0"/>
          </a:p>
        </p:txBody>
      </p:sp>
      <p:sp>
        <p:nvSpPr>
          <p:cNvPr id="8" name="Shape 5"/>
          <p:cNvSpPr/>
          <p:nvPr/>
        </p:nvSpPr>
        <p:spPr>
          <a:xfrm>
            <a:off x="0" y="6784848"/>
            <a:ext cx="12188952" cy="27432"/>
          </a:xfrm>
          <a:prstGeom prst="rect">
            <a:avLst/>
          </a:prstGeom>
          <a:solidFill>
            <a:srgbClr val="E1E5E8"/>
          </a:solidFill>
          <a:ln/>
        </p:spPr>
      </p:sp>
      <p:sp>
        <p:nvSpPr>
          <p:cNvPr id="9"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29 / 36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E — Load-Test Plan</a:t>
            </a:r>
            <a:endParaRPr lang="en-US" sz="2600" dirty="0"/>
          </a:p>
        </p:txBody>
      </p:sp>
      <p:sp>
        <p:nvSpPr>
          <p:cNvPr id="5" name="Shape 3"/>
          <p:cNvSpPr/>
          <p:nvPr/>
        </p:nvSpPr>
        <p:spPr>
          <a:xfrm>
            <a:off x="457200" y="1188720"/>
            <a:ext cx="11247120" cy="10973"/>
          </a:xfrm>
          <a:prstGeom prst="rect">
            <a:avLst/>
          </a:prstGeom>
          <a:solidFill>
            <a:srgbClr val="E1E5E8"/>
          </a:solidFill>
          <a:ln/>
        </p:spPr>
      </p:sp>
      <p:sp>
        <p:nvSpPr>
          <p:cNvPr id="6" name="Text 4"/>
          <p:cNvSpPr/>
          <p:nvPr/>
        </p:nvSpPr>
        <p:spPr>
          <a:xfrm>
            <a:off x="502920" y="1554480"/>
            <a:ext cx="11155680" cy="4846320"/>
          </a:xfrm>
          <a:prstGeom prst="rect">
            <a:avLst/>
          </a:prstGeom>
          <a:noFill/>
          <a:ln/>
        </p:spPr>
        <p:txBody>
          <a:bodyPr wrap="square" rtlCol="0" anchor="t"/>
          <a:lstStyle/>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Scope (Increment 4 plan of record): 10-100 concurrent users/sessions; same-thread turn concurrency; cold-start latency distribution; active session compute measurement.</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Unmeasured today: maximum sessions, requests-per-second ceiling, MCP fan-out throughput, checkpoint size limits, downstream throttling behavior.</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State-experiment benchmark (same increment): Cosmos DB serverless CosmosDBSaver checkpointer — latency, RU cost, and private-endpoint reachability vs. the Responses-history baseline.</a:t>
            </a:r>
            <a:endParaRPr lang="en-US" sz="1150" dirty="0"/>
          </a:p>
        </p:txBody>
      </p:sp>
      <p:sp>
        <p:nvSpPr>
          <p:cNvPr id="8" name="Shape 5"/>
          <p:cNvSpPr/>
          <p:nvPr/>
        </p:nvSpPr>
        <p:spPr>
          <a:xfrm>
            <a:off x="0" y="6784848"/>
            <a:ext cx="12188952" cy="27432"/>
          </a:xfrm>
          <a:prstGeom prst="rect">
            <a:avLst/>
          </a:prstGeom>
          <a:solidFill>
            <a:srgbClr val="E1E5E8"/>
          </a:solidFill>
          <a:ln/>
        </p:spPr>
      </p:sp>
      <p:sp>
        <p:nvSpPr>
          <p:cNvPr id="9"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30 / 36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F (1 of 2) — RBAC Matrix — Roles</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2377440"/>
                <a:gridCol w="3291840"/>
                <a:gridCol w="1828800"/>
                <a:gridCol w="393192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Role</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GUID</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Scope</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Use</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Agent Consumer</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eed3b665-ab3a-47b6-8f48-c9382fb1dad6</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account/project/agent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invoke-only</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User</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53ca6127-db72-4b80-b1b0-d745d6d5456d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account/project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data plane; one of two checked runtime roles</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Cognitive Services OpenAI User</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5e0bd9bd-7b93-4f28-af87-19fc36ad61bd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account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Model access for the runtime instance principal</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Project Manager</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eadc314b-1a2d-4efa-be10-5d325db5065e</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account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create/manage projects, publish agents</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Account Owner</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e47c6f54-e4a2-4754-9501-8e0985b135e1</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account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create projects/accounts, no data-plane build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Owner</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c883944f-8b7b-4483-af10-35834be79c4a</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account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full control</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bl>
          </a:graphicData>
        </a:graphic>
      </p:graphicFrame>
      <p:sp>
        <p:nvSpPr>
          <p:cNvPr id="7" name="Text 4"/>
          <p:cNvSpPr/>
          <p:nvPr/>
        </p:nvSpPr>
        <p:spPr>
          <a:xfrm>
            <a:off x="365760" y="6263640"/>
            <a:ext cx="11430000" cy="411480"/>
          </a:xfrm>
          <a:prstGeom prst="rect">
            <a:avLst/>
          </a:prstGeom>
          <a:noFill/>
          <a:ln/>
        </p:spPr>
        <p:txBody>
          <a:bodyPr wrap="square" rtlCol="0" anchor="ctr"/>
          <a:lstStyle/>
          <a:p>
            <a:pPr indent="0" marL="0">
              <a:buNone/>
            </a:pPr>
            <a:r>
              <a:rPr lang="en-US" sz="950" i="1" dirty="0">
                <a:solidFill>
                  <a:srgbClr val="484848"/>
                </a:solidFill>
                <a:latin typeface="Segoe UI" pitchFamily="34" charset="0"/>
                <a:ea typeface="Segoe UI" pitchFamily="34" charset="-122"/>
                <a:cs typeface="Segoe UI" pitchFamily="34" charset="-120"/>
              </a:rPr>
              <a:t>Plus Contributor at resource-group scope for azd provision, and AcrPush/AcrPull if using container-deploy mode instead of code-deploy. Confidence: confirmed (documented role definitions and GUIDs).</a:t>
            </a:r>
            <a:endParaRPr lang="en-US" sz="950" dirty="0"/>
          </a:p>
        </p:txBody>
      </p:sp>
      <p:sp>
        <p:nvSpPr>
          <p:cNvPr id="9" name="Shape 5"/>
          <p:cNvSpPr/>
          <p:nvPr/>
        </p:nvSpPr>
        <p:spPr>
          <a:xfrm>
            <a:off x="0" y="6784848"/>
            <a:ext cx="12188952" cy="27432"/>
          </a:xfrm>
          <a:prstGeom prst="rect">
            <a:avLst/>
          </a:prstGeom>
          <a:solidFill>
            <a:srgbClr val="E1E5E8"/>
          </a:solidFill>
          <a:ln/>
        </p:spPr>
      </p:sp>
      <p:sp>
        <p:nvSpPr>
          <p:cNvPr id="10"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1"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31 / 36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F (2 of 2) — RBAC Matrix — Bicep Resource Types</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3291840"/>
                <a:gridCol w="2377440"/>
                <a:gridCol w="5760720"/>
              </a:tblGrid>
              <a:tr h="0">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Resource type</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API version</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Notes</a:t>
                      </a:r>
                      <a:endParaRPr lang="en-US" sz="105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Microsoft.CognitiveServices/accounts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2025-04-01-preview (sample) / 2025-06-01 (AVM)</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kind: 'AIServices', allowProjectManagement: true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.../accounts/projects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2025-04-01-preview</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Foundry project</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.../accounts/projects/connections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2025-04-01-preview</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Cosmos DB/Storage/AI Search/OpenAI connections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.../accounts/capabilityHosts, .../accounts/projects/capabilityHosts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2025-04-01-preview / 2025-06-01</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Standard Agent Setup only (BYO storage)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Microsoft.DocumentDB/databaseAccounts</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2024-12-01-preview</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Cosmos DB (BYO thread storage or app-level checkpointer store)</a:t>
                      </a:r>
                      <a:endParaRPr lang="en-US" sz="95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bl>
          </a:graphicData>
        </a:graphic>
      </p:graphicFrame>
      <p:sp>
        <p:nvSpPr>
          <p:cNvPr id="8" name="Shape 4"/>
          <p:cNvSpPr/>
          <p:nvPr/>
        </p:nvSpPr>
        <p:spPr>
          <a:xfrm>
            <a:off x="0" y="6784848"/>
            <a:ext cx="12188952" cy="27432"/>
          </a:xfrm>
          <a:prstGeom prst="rect">
            <a:avLst/>
          </a:prstGeom>
          <a:solidFill>
            <a:srgbClr val="E1E5E8"/>
          </a:solidFill>
          <a:ln/>
        </p:spPr>
      </p:sp>
      <p:sp>
        <p:nvSpPr>
          <p:cNvPr id="9" name="Text 5"/>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6"/>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32 / 36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G — Product-Status Register</a:t>
            </a:r>
            <a:endParaRPr lang="en-US" sz="2600" dirty="0"/>
          </a:p>
        </p:txBody>
      </p:sp>
      <p:sp>
        <p:nvSpPr>
          <p:cNvPr id="5" name="Shape 3"/>
          <p:cNvSpPr/>
          <p:nvPr/>
        </p:nvSpPr>
        <p:spPr>
          <a:xfrm>
            <a:off x="457200" y="1188720"/>
            <a:ext cx="11247120" cy="10973"/>
          </a:xfrm>
          <a:prstGeom prst="rect">
            <a:avLst/>
          </a:prstGeom>
          <a:solidFill>
            <a:srgbClr val="E1E5E8"/>
          </a:solidFill>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11430000" cy="914400"/>
        </p:xfrm>
        <a:graphic>
          <a:graphicData uri="http://schemas.openxmlformats.org/drawingml/2006/table">
            <a:tbl>
              <a:tblPr/>
              <a:tblGrid>
                <a:gridCol w="5029200"/>
                <a:gridCol w="4572000"/>
                <a:gridCol w="182880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Product capability</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Status</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Confidence tag</a:t>
                      </a:r>
                      <a:endParaRPr lang="en-US" sz="1100" dirty="0">
                        <a:latin typeface="Segoe UI" charset="0"/>
                        <a:ea typeface="Segoe UI" charset="0"/>
                        <a:cs typeface="Segoe UI" charset="0"/>
                      </a:endParaRPr>
                    </a:p>
                  </a:txBody>
                  <a:tcPr marL="91440" marR="91440" marT="45720" marB="45720" anchor="ctr">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003D6B"/>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Foundry Hosted Agents (custom-code hosting surface)</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Public preview at research time — current GA status not reverified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requires-validation</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LangGraph as a supported hosted-agent framework</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Documented, first-class</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confirmed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Responses protocol SSE streaming</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Documented, confirmed mechanism</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confirmed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A2A delegation protocol</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Preview</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preview</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Continuous evaluation (EvaluationRule)</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Documented but preview</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preview</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Microsoft Agent 365 / Entra Agent ID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GA (platform), Hosted Agent onboarding path unverified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inferred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microsoft/ai-agent-evals GitHub Action</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Not used by the verified release; custom runner replaces it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confirmed</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LangSmith Azure BYOC</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Roadmap-stated "planned for 2H 2026," not a release commitment</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requires-validation</a:t>
                      </a:r>
                      <a:endParaRPr lang="en-US" sz="1000" dirty="0">
                        <a:latin typeface="Segoe UI" charset="0"/>
                        <a:ea typeface="Segoe UI" charset="0"/>
                        <a:cs typeface="Segoe UI" charset="0"/>
                      </a:endParaRPr>
                    </a:p>
                  </a:txBody>
                  <a:tcPr marL="91440" marR="91440" marT="45720" marB="45720" anchor="t">
                    <a:lnL w="6350" cap="flat" cmpd="sng" algn="ctr">
                      <a:solidFill>
                        <a:srgbClr val="E1E5E8"/>
                      </a:solidFill>
                      <a:prstDash val="solid"/>
                      <a:round/>
                      <a:headEnd type="none" w="med" len="med"/>
                      <a:tailEnd type="none" w="med" len="med"/>
                    </a:lnL>
                    <a:lnR w="6350" cap="flat" cmpd="sng" algn="ctr">
                      <a:solidFill>
                        <a:srgbClr val="E1E5E8"/>
                      </a:solidFill>
                      <a:prstDash val="solid"/>
                      <a:round/>
                      <a:headEnd type="none" w="med" len="med"/>
                      <a:tailEnd type="none" w="med" len="med"/>
                    </a:lnR>
                    <a:lnT w="6350" cap="flat" cmpd="sng" algn="ctr">
                      <a:solidFill>
                        <a:srgbClr val="E1E5E8"/>
                      </a:solidFill>
                      <a:prstDash val="solid"/>
                      <a:round/>
                      <a:headEnd type="none" w="med" len="med"/>
                      <a:tailEnd type="none" w="med" len="med"/>
                    </a:lnT>
                    <a:lnB w="6350" cap="flat" cmpd="sng" algn="ctr">
                      <a:solidFill>
                        <a:srgbClr val="E1E5E8"/>
                      </a:solidFill>
                      <a:prstDash val="solid"/>
                      <a:round/>
                      <a:headEnd type="none" w="med" len="med"/>
                      <a:tailEnd type="none" w="med" len="med"/>
                    </a:lnB>
                    <a:solidFill>
                      <a:srgbClr val="F0F7FF"/>
                    </a:solidFill>
                  </a:tcPr>
                </a:tc>
              </a:tr>
            </a:tbl>
          </a:graphicData>
        </a:graphic>
      </p:graphicFrame>
      <p:sp>
        <p:nvSpPr>
          <p:cNvPr id="7" name="Text 4"/>
          <p:cNvSpPr/>
          <p:nvPr/>
        </p:nvSpPr>
        <p:spPr>
          <a:xfrm>
            <a:off x="365760" y="6263640"/>
            <a:ext cx="11430000" cy="411480"/>
          </a:xfrm>
          <a:prstGeom prst="rect">
            <a:avLst/>
          </a:prstGeom>
          <a:noFill/>
          <a:ln/>
        </p:spPr>
        <p:txBody>
          <a:bodyPr wrap="square" rtlCol="0" anchor="ctr"/>
          <a:lstStyle/>
          <a:p>
            <a:pPr indent="0" marL="0">
              <a:buNone/>
            </a:pPr>
            <a:r>
              <a:rPr lang="en-US" sz="950" i="1" dirty="0">
                <a:solidFill>
                  <a:srgbClr val="484848"/>
                </a:solidFill>
                <a:latin typeface="Segoe UI" pitchFamily="34" charset="0"/>
                <a:ea typeface="Segoe UI" pitchFamily="34" charset="-122"/>
                <a:cs typeface="Segoe UI" pitchFamily="34" charset="-120"/>
              </a:rPr>
              <a:t>This register reframes Appendix B by product-capability GA/preview status rather than by claim; no separate product-status table exists in the research document.</a:t>
            </a:r>
            <a:endParaRPr lang="en-US" sz="950" dirty="0"/>
          </a:p>
        </p:txBody>
      </p:sp>
      <p:sp>
        <p:nvSpPr>
          <p:cNvPr id="9" name="Shape 5"/>
          <p:cNvSpPr/>
          <p:nvPr/>
        </p:nvSpPr>
        <p:spPr>
          <a:xfrm>
            <a:off x="0" y="6784848"/>
            <a:ext cx="12188952" cy="27432"/>
          </a:xfrm>
          <a:prstGeom prst="rect">
            <a:avLst/>
          </a:prstGeom>
          <a:solidFill>
            <a:srgbClr val="E1E5E8"/>
          </a:solidFill>
          <a:ln/>
        </p:spPr>
      </p:sp>
      <p:sp>
        <p:nvSpPr>
          <p:cNvPr id="10"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1"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33 / 36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H (1 of 3) — Open Questions</a:t>
            </a:r>
            <a:endParaRPr lang="en-US" sz="2600" dirty="0"/>
          </a:p>
        </p:txBody>
      </p:sp>
      <p:sp>
        <p:nvSpPr>
          <p:cNvPr id="5" name="Shape 3"/>
          <p:cNvSpPr/>
          <p:nvPr/>
        </p:nvSpPr>
        <p:spPr>
          <a:xfrm>
            <a:off x="457200" y="1188720"/>
            <a:ext cx="11247120" cy="10973"/>
          </a:xfrm>
          <a:prstGeom prst="rect">
            <a:avLst/>
          </a:prstGeom>
          <a:solidFill>
            <a:srgbClr val="E1E5E8"/>
          </a:solidFill>
          <a:ln/>
        </p:spPr>
      </p:sp>
      <p:sp>
        <p:nvSpPr>
          <p:cNvPr id="6" name="Text 4"/>
          <p:cNvSpPr/>
          <p:nvPr/>
        </p:nvSpPr>
        <p:spPr>
          <a:xfrm>
            <a:off x="502920" y="1554480"/>
            <a:ext cx="11155680" cy="4846320"/>
          </a:xfrm>
          <a:prstGeom prst="rect">
            <a:avLst/>
          </a:prstGeom>
          <a:noFill/>
          <a:ln/>
        </p:spPr>
        <p:txBody>
          <a:bodyPr wrap="square" rtlCol="0" anchor="t"/>
          <a:lstStyle/>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Scaling: per-session isolation, idle timeout, scale-to-zero documented; SLA, max sessions, RPS, same-session concurrency, cold-start distribution, model quota, and dependency limits are not established.</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Cost: drivers are known; actual rates and workload measurements are missing.</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Tools and MCP: custom MCP code needs its own Azure runtime; auth, private reachability, throttling, versioning, and failure handling must be validated in the PoC.</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Multi-agent design: a supervisor coordinating specialists inside one hosted deployment is a genuine multi-agent system.</a:t>
            </a:r>
            <a:endParaRPr lang="en-US" sz="1150" dirty="0"/>
          </a:p>
          <a:p>
            <a:pPr marL="228600" indent="-228600">
              <a:lnSpc>
                <a:spcPct val="112000"/>
              </a:lnSpc>
              <a:buSzPct val="100000"/>
              <a:buChar char="●"/>
            </a:pPr>
            <a:r>
              <a:rPr lang="en-US" sz="1150" b="1" dirty="0">
                <a:solidFill>
                  <a:srgbClr val="0078D4"/>
                </a:solidFill>
                <a:latin typeface="Segoe UI" pitchFamily="34" charset="0"/>
                <a:ea typeface="Segoe UI" pitchFamily="34" charset="-122"/>
                <a:cs typeface="Segoe UI" pitchFamily="34" charset="-120"/>
              </a:rPr>
              <a:t>PREVIEW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Separate A2A deployments are justified only by independent ownership/release/isolation/scaling needs and remain preview.</a:t>
            </a:r>
            <a:endParaRPr lang="en-US" sz="1150" dirty="0"/>
          </a:p>
        </p:txBody>
      </p:sp>
      <p:sp>
        <p:nvSpPr>
          <p:cNvPr id="8" name="Shape 5"/>
          <p:cNvSpPr/>
          <p:nvPr/>
        </p:nvSpPr>
        <p:spPr>
          <a:xfrm>
            <a:off x="0" y="6784848"/>
            <a:ext cx="12188952" cy="27432"/>
          </a:xfrm>
          <a:prstGeom prst="rect">
            <a:avLst/>
          </a:prstGeom>
          <a:solidFill>
            <a:srgbClr val="E1E5E8"/>
          </a:solidFill>
          <a:ln/>
        </p:spPr>
      </p:sp>
      <p:sp>
        <p:nvSpPr>
          <p:cNvPr id="9"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34 / 36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H (2 of 3) — Open Questions</a:t>
            </a:r>
            <a:endParaRPr lang="en-US" sz="2600" dirty="0"/>
          </a:p>
        </p:txBody>
      </p:sp>
      <p:sp>
        <p:nvSpPr>
          <p:cNvPr id="5" name="Shape 3"/>
          <p:cNvSpPr/>
          <p:nvPr/>
        </p:nvSpPr>
        <p:spPr>
          <a:xfrm>
            <a:off x="457200" y="1188720"/>
            <a:ext cx="11247120" cy="10973"/>
          </a:xfrm>
          <a:prstGeom prst="rect">
            <a:avLst/>
          </a:prstGeom>
          <a:solidFill>
            <a:srgbClr val="E1E5E8"/>
          </a:solidFill>
          <a:ln/>
        </p:spPr>
      </p:sp>
      <p:sp>
        <p:nvSpPr>
          <p:cNvPr id="6" name="Text 4"/>
          <p:cNvSpPr/>
          <p:nvPr/>
        </p:nvSpPr>
        <p:spPr>
          <a:xfrm>
            <a:off x="502920" y="1554480"/>
            <a:ext cx="11155680" cy="4846320"/>
          </a:xfrm>
          <a:prstGeom prst="rect">
            <a:avLst/>
          </a:prstGeom>
          <a:noFill/>
          <a:ln/>
        </p:spPr>
        <p:txBody>
          <a:bodyPr wrap="square" rtlCol="0" anchor="t"/>
          <a:lstStyle/>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Evaluations: offline/batch scoring confirmed.</a:t>
            </a:r>
            <a:endParaRPr lang="en-US" sz="1150" dirty="0"/>
          </a:p>
          <a:p>
            <a:pPr marL="228600" indent="-228600">
              <a:lnSpc>
                <a:spcPct val="112000"/>
              </a:lnSpc>
              <a:buSzPct val="100000"/>
              <a:buChar char="●"/>
            </a:pPr>
            <a:r>
              <a:rPr lang="en-US" sz="1150" b="1" dirty="0">
                <a:solidFill>
                  <a:srgbClr val="0078D4"/>
                </a:solidFill>
                <a:latin typeface="Segoe UI" pitchFamily="34" charset="0"/>
                <a:ea typeface="Segoe UI" pitchFamily="34" charset="-122"/>
                <a:cs typeface="Segoe UI" pitchFamily="34" charset="-120"/>
              </a:rPr>
              <a:t>PREVIEW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Continuous evaluation documented but preview.</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Native portal presentation and complete distributed trace coverage need separate confirmation; downloaded artifacts already prove the release gate.</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Staging evaluation, approvals, production deployment and monitoring passed. Infrastructure and agent versions have separate lifecycles; recovery remains manual.</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Streaming: Responses SSE supports progressive output events.</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Parity with all required LangGraph events, reconnection, cancellation, and the existing UI contract must be tested.</a:t>
            </a:r>
            <a:endParaRPr lang="en-US" sz="1150" dirty="0"/>
          </a:p>
        </p:txBody>
      </p:sp>
      <p:sp>
        <p:nvSpPr>
          <p:cNvPr id="8" name="Shape 5"/>
          <p:cNvSpPr/>
          <p:nvPr/>
        </p:nvSpPr>
        <p:spPr>
          <a:xfrm>
            <a:off x="0" y="6784848"/>
            <a:ext cx="12188952" cy="27432"/>
          </a:xfrm>
          <a:prstGeom prst="rect">
            <a:avLst/>
          </a:prstGeom>
          <a:solidFill>
            <a:srgbClr val="E1E5E8"/>
          </a:solidFill>
          <a:ln/>
        </p:spPr>
      </p:sp>
      <p:sp>
        <p:nvSpPr>
          <p:cNvPr id="9"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35 / 36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5C2D91"/>
          </a:solidFill>
          <a:ln/>
        </p:spPr>
      </p:sp>
      <p:sp>
        <p:nvSpPr>
          <p:cNvPr id="3" name="Text 1"/>
          <p:cNvSpPr/>
          <p:nvPr/>
        </p:nvSpPr>
        <p:spPr>
          <a:xfrm>
            <a:off x="457200" y="292608"/>
            <a:ext cx="11247120" cy="274320"/>
          </a:xfrm>
          <a:prstGeom prst="rect">
            <a:avLst/>
          </a:prstGeom>
          <a:noFill/>
          <a:ln/>
        </p:spPr>
        <p:txBody>
          <a:bodyPr wrap="square" rtlCol="0" anchor="ctr"/>
          <a:lstStyle/>
          <a:p>
            <a:pPr indent="0" marL="0">
              <a:buNone/>
            </a:pPr>
            <a:r>
              <a:rPr lang="en-US" sz="1100" b="1" spc="100" kern="0" dirty="0">
                <a:solidFill>
                  <a:srgbClr val="5C2D91"/>
                </a:solidFill>
                <a:latin typeface="Segoe UI" pitchFamily="34" charset="0"/>
                <a:ea typeface="Segoe UI" pitchFamily="34" charset="-122"/>
                <a:cs typeface="Segoe UI" pitchFamily="34" charset="-120"/>
              </a:rPr>
              <a:t>APPENDIX</a:t>
            </a:r>
            <a:endParaRPr lang="en-US" sz="1100" dirty="0"/>
          </a:p>
        </p:txBody>
      </p:sp>
      <p:sp>
        <p:nvSpPr>
          <p:cNvPr id="4" name="Text 2"/>
          <p:cNvSpPr/>
          <p:nvPr/>
        </p:nvSpPr>
        <p:spPr>
          <a:xfrm>
            <a:off x="457200" y="548640"/>
            <a:ext cx="11247120" cy="548640"/>
          </a:xfrm>
          <a:prstGeom prst="rect">
            <a:avLst/>
          </a:prstGeom>
          <a:noFill/>
          <a:ln/>
        </p:spPr>
        <p:txBody>
          <a:bodyPr wrap="square" rtlCol="0" anchor="ctr"/>
          <a:lstStyle/>
          <a:p>
            <a:pPr indent="0" marL="0">
              <a:buNone/>
            </a:pPr>
            <a:r>
              <a:rPr lang="en-US" sz="2600" b="1" dirty="0">
                <a:solidFill>
                  <a:srgbClr val="001B3D"/>
                </a:solidFill>
                <a:latin typeface="Segoe UI" pitchFamily="34" charset="0"/>
                <a:ea typeface="Segoe UI" pitchFamily="34" charset="-122"/>
                <a:cs typeface="Segoe UI" pitchFamily="34" charset="-120"/>
              </a:rPr>
              <a:t>Appendix H (3 of 3) — Open Questions</a:t>
            </a:r>
            <a:endParaRPr lang="en-US" sz="2600" dirty="0"/>
          </a:p>
        </p:txBody>
      </p:sp>
      <p:sp>
        <p:nvSpPr>
          <p:cNvPr id="5" name="Shape 3"/>
          <p:cNvSpPr/>
          <p:nvPr/>
        </p:nvSpPr>
        <p:spPr>
          <a:xfrm>
            <a:off x="457200" y="1188720"/>
            <a:ext cx="11247120" cy="10973"/>
          </a:xfrm>
          <a:prstGeom prst="rect">
            <a:avLst/>
          </a:prstGeom>
          <a:solidFill>
            <a:srgbClr val="E1E5E8"/>
          </a:solidFill>
          <a:ln/>
        </p:spPr>
      </p:sp>
      <p:sp>
        <p:nvSpPr>
          <p:cNvPr id="6" name="Text 4"/>
          <p:cNvSpPr/>
          <p:nvPr/>
        </p:nvSpPr>
        <p:spPr>
          <a:xfrm>
            <a:off x="502920" y="1554480"/>
            <a:ext cx="11155680" cy="4846320"/>
          </a:xfrm>
          <a:prstGeom prst="rect">
            <a:avLst/>
          </a:prstGeom>
          <a:noFill/>
          <a:ln/>
        </p:spPr>
        <p:txBody>
          <a:bodyPr wrap="square" rtlCol="0" anchor="t"/>
          <a:lstStyle/>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Conversation state: application-owned full history is the pilot source of truth, store:false. Durable persistence is not implemented; Cosmos remains a separate experiment.</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No user-scoped conversation-list API was found — an evidence gap.</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Governance: per-agent Entra identity, Foundry RBAC, and Application Insights are supported baseline controls.</a:t>
            </a:r>
            <a:endParaRPr lang="en-US" sz="1150" dirty="0"/>
          </a:p>
          <a:p>
            <a:pPr marL="228600" indent="-228600">
              <a:lnSpc>
                <a:spcPct val="112000"/>
              </a:lnSpc>
              <a:buSzPct val="100000"/>
              <a:buChar char="●"/>
            </a:pPr>
            <a:r>
              <a:rPr lang="en-US" sz="1150" b="1" dirty="0">
                <a:solidFill>
                  <a:srgbClr val="5C2D91"/>
                </a:solidFill>
                <a:latin typeface="Segoe UI" pitchFamily="34" charset="0"/>
                <a:ea typeface="Segoe UI" pitchFamily="34" charset="-122"/>
                <a:cs typeface="Segoe UI" pitchFamily="34" charset="-120"/>
              </a:rPr>
              <a:t>INFERRED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Agent 365 is a validation track because the exact Hosted Agent identity onboarding and LangGraph instrumentation path was not found.</a:t>
            </a:r>
            <a:endParaRPr lang="en-US" sz="1150" dirty="0"/>
          </a:p>
          <a:p>
            <a:pPr marL="228600" indent="-228600">
              <a:lnSpc>
                <a:spcPct val="112000"/>
              </a:lnSpc>
              <a:buSzPct val="100000"/>
              <a:buChar char="●"/>
            </a:pPr>
            <a:r>
              <a:rPr lang="en-US" sz="1150" b="1" dirty="0">
                <a:solidFill>
                  <a:srgbClr val="107C10"/>
                </a:solidFill>
                <a:latin typeface="Segoe UI" pitchFamily="34" charset="0"/>
                <a:ea typeface="Segoe UI" pitchFamily="34" charset="-122"/>
                <a:cs typeface="Segoe UI" pitchFamily="34" charset="-120"/>
              </a:rPr>
              <a:t>CONFIRMED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Reusability: reuse comes from versioned Bicep modules, azure.yaml, a standard hosted-agent wrapper, independently owned MCP contracts, common evaluation datasets, and reusable GitHub workflows.</a:t>
            </a:r>
            <a:endParaRPr lang="en-US" sz="1150" dirty="0"/>
          </a:p>
          <a:p>
            <a:pPr marL="228600" indent="-228600">
              <a:lnSpc>
                <a:spcPct val="112000"/>
              </a:lnSpc>
              <a:buSzPct val="100000"/>
              <a:buChar char="●"/>
            </a:pPr>
            <a:r>
              <a:rPr lang="en-US" sz="1150" b="1" dirty="0">
                <a:solidFill>
                  <a:srgbClr val="D13438"/>
                </a:solidFill>
                <a:latin typeface="Segoe UI" pitchFamily="34" charset="0"/>
                <a:ea typeface="Segoe UI" pitchFamily="34" charset="-122"/>
                <a:cs typeface="Segoe UI" pitchFamily="34" charset="-120"/>
              </a:rPr>
              <a:t>REQUIRES VALIDATION  </a:t>
            </a:r>
            <a:pPr indent="0" marL="0">
              <a:lnSpc>
                <a:spcPct val="112000"/>
              </a:lnSpc>
              <a:buNone/>
            </a:pPr>
            <a:r>
              <a:rPr lang="en-US" sz="1250" dirty="0">
                <a:solidFill>
                  <a:srgbClr val="1A1A1A"/>
                </a:solidFill>
                <a:latin typeface="Segoe UI" pitchFamily="34" charset="0"/>
                <a:ea typeface="Segoe UI" pitchFamily="34" charset="-122"/>
                <a:cs typeface="Segoe UI" pitchFamily="34" charset="-120"/>
              </a:rPr>
              <a:t>Owners and decision date for the PoC plan: not specified anywhere in the research document — open item for the presenting team.</a:t>
            </a:r>
            <a:endParaRPr lang="en-US" sz="1150" dirty="0"/>
          </a:p>
        </p:txBody>
      </p:sp>
      <p:sp>
        <p:nvSpPr>
          <p:cNvPr id="8" name="Shape 5"/>
          <p:cNvSpPr/>
          <p:nvPr/>
        </p:nvSpPr>
        <p:spPr>
          <a:xfrm>
            <a:off x="0" y="6784848"/>
            <a:ext cx="12188952" cy="27432"/>
          </a:xfrm>
          <a:prstGeom prst="rect">
            <a:avLst/>
          </a:prstGeom>
          <a:solidFill>
            <a:srgbClr val="E1E5E8"/>
          </a:solidFill>
          <a:ln/>
        </p:spPr>
      </p:sp>
      <p:sp>
        <p:nvSpPr>
          <p:cNvPr id="9" name="Text 6"/>
          <p:cNvSpPr/>
          <p:nvPr/>
        </p:nvSpPr>
        <p:spPr>
          <a:xfrm>
            <a:off x="457200" y="6537960"/>
            <a:ext cx="8229600" cy="256032"/>
          </a:xfrm>
          <a:prstGeom prst="rect">
            <a:avLst/>
          </a:prstGeom>
          <a:noFill/>
          <a:ln/>
        </p:spPr>
        <p:txBody>
          <a:bodyPr wrap="square" rtlCol="0" anchor="ctr"/>
          <a:lstStyle/>
          <a:p>
            <a:pPr indent="0" marL="0">
              <a:buNone/>
            </a:pPr>
            <a:r>
              <a:rPr lang="en-US" sz="900" dirty="0">
                <a:solidFill>
                  <a:srgbClr val="767676"/>
                </a:solidFill>
                <a:latin typeface="Segoe UI" pitchFamily="34" charset="0"/>
                <a:ea typeface="Segoe UI" pitchFamily="34" charset="-122"/>
                <a:cs typeface="Segoe UI" pitchFamily="34" charset="-120"/>
              </a:rPr>
              <a:t>Air Canada — Foundry Hosted Agents Decision · Appendix</a:t>
            </a:r>
            <a:endParaRPr lang="en-US" sz="900" dirty="0"/>
          </a:p>
        </p:txBody>
      </p:sp>
      <p:sp>
        <p:nvSpPr>
          <p:cNvPr id="10" name="Text 7"/>
          <p:cNvSpPr/>
          <p:nvPr/>
        </p:nvSpPr>
        <p:spPr>
          <a:xfrm>
            <a:off x="11430000" y="6528816"/>
            <a:ext cx="640080" cy="256032"/>
          </a:xfrm>
          <a:prstGeom prst="rect">
            <a:avLst/>
          </a:prstGeom>
          <a:noFill/>
          <a:ln/>
        </p:spPr>
        <p:txBody>
          <a:bodyPr wrap="square" rtlCol="0" anchor="ctr"/>
          <a:lstStyle/>
          <a:p>
            <a:pPr algn="r" indent="0" marL="0">
              <a:buNone/>
            </a:pPr>
            <a:r>
              <a:rPr lang="en-US" sz="900" dirty="0">
                <a:solidFill>
                  <a:srgbClr val="767676"/>
                </a:solidFill>
                <a:latin typeface="Segoe UI" pitchFamily="34" charset="0"/>
                <a:ea typeface="Segoe UI" pitchFamily="34" charset="-122"/>
                <a:cs typeface="Segoe UI" pitchFamily="34" charset="-120"/>
              </a:rPr>
              <a:t>36 / 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Canada — Foundry Hosted Agents Decision and Multi-Agent PoC</dc:title>
  <dc:subject>PptxGenJS Presentation</dc:subject>
  <dc:creator>Air Canada Foundry Hosted Agents PoC Team</dc:creator>
  <cp:lastModifiedBy>Air Canada Foundry Hosted Agents PoC Team</cp:lastModifiedBy>
  <cp:revision>1</cp:revision>
  <dcterms:created xsi:type="dcterms:W3CDTF">2026-09-10T03:08:37Z</dcterms:created>
  <dcterms:modified xsi:type="dcterms:W3CDTF">2026-09-10T03:08:37Z</dcterms:modified>
</cp:coreProperties>
</file>