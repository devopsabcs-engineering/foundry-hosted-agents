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release 34178081808, 2026-09-08 UTC. WI-11 resolved for this implementation. Synthetic fixtures; production readiness remains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 jobs réussis, récupération ignorée. Staging 6 ; production de 33 à 34. Les deux portes de production ont reçu une approbation normale. Environnement PoC, pas une certification de production.
Source: https://github.com/devopsabcs-engineering/foundry-hosted-agents/actions/runs/34178081808
Evidence: assets/release-evidence/source; SHA-256 manifest: assets/release-evidence/manifest.json. Images render downloaded artifacts, not native portal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captures ; sept rapports évalués sur la cohérence, l’ancrage et le respect de la tâche. 21 réussites, seuils inchangés à 100 %. inject-001 : refus déterministe sans outil, pas un résultat de juge. Aucune violation. Résultats incomplets relus, pas réévalués.
Source: https://github.com/devopsabcs-engineering/foundry-hosted-agents/actions/runs/34178081808
Evidence: assets/release-evidence/source; SHA-256 manifest: assets/release-evidence/manifest.json. Images render downloaded artifacts, not native portal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reçus issus de ToolMessage. tp-001 montre les deux outils Defender et les deux outils Anomaly. Les reçus prouvent l’exécution, pas la justesse. Données synthétiques, pas une télémétrie Defender ou aérienne réelle. Cas de sécurité : aucun autre outil. Preuves bornées jointes à response.completed.
Source: https://github.com/devopsabcs-engineering/foundry-hosted-agents/actions/runs/34178081808
Evidence: assets/release-evidence/source; SHA-256 manifest: assets/release-evidence/manifest.json. Images render downloaded artifacts, not native portal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34 active, Toolbox 1. Test de cette version réussi. À 02:12:02 UTC, zéro AppExceptions sur les dix dernières minutes. Ni test d’endurance de dix minutes ni preuve de traçage complet. Évaluation en staging. Même code reconstruit en production avec les condensats MCP évalués. Récupération manuelle, sans rollback automatique ni canary.
Source: https://github.com/devopsabcs-engineering/foundry-hosted-agents/actions/runs/34178081808
Evidence: assets/release-evidence/source; SHA-256 manifest: assets/release-evidence/manifest.json. Images render downloaded artifacts, not native portal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00 — Prérequis et configuration de l’environnement
Lab 01 — Plongée dans l’architecture (superviseur/spécialistes LangGraph)
Lab 02 — Déployer les serveurs d’outils MCP
Lab 03 — Provisionner et déployer l’agent hébergé (azd)
Lab 04 — Invoquer l’agent et lire les traces
Lab 05 — Évaluations : déterministes + LLM-as-judge
Lab 06 — CI/CD : pipeline contrôlé par évaluation
Lab 07 — Dépannage réel : erreur RBAC 401
Lab 08 — Préparation à la production et portes de décision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superviseur LangGraph route vers trois nœuds spécialistes : Enquêteur de preuves, Analyste de risque, Rédacteur de rapport
Chaque spécialiste a son propre prompt, ses permissions d’outils et ses critères d’évaluation
Isolation des outils par rôle : Enquêteur de preuves → defender-conn uniquement, Analyste de risque → anomaly-conn uniquement
Le Rédacteur de rapport n’a aucun accès aux outils — il ne fait que synthétiser
Le transport MCP versionné, les jetons Entra renouvelés et les connexions RemoteTool fonctionnent ; les reçus prouvent les appels des spécialistes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Couche 1 — Implémentation : code de serveur MCP personnalisé (outils Defender, outils anomalie)
Couche 2 — Hébergement : Azure Container Apps indépendantes, authentification/réseau/santé propres
Couche 3 — Enregistrement : les connexions Foundry définissent le point de terminaison + la politique d’identifiants par serveur MCP
Couche 4 — Consommation : la Foundry Toolbox agrège les outils enregistrés pour réutilisation entre agents
La Toolbox est la couche d’enregistrement/agrégation — pas le runtime d’hébergement de votre code MCP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azure.yaml câble le projet Foundry, le déploiement de modèle, les connexions Toolbox et le service d’agent hébergé
kind: hosted — Foundry exploite le calcul de session ; vous ne possédez que le code du graphe
dependencyResolution: remote_build — Foundry construit vos dépendances Python côté serveur
protocol: responses — protocole Responses compatible OpenAI avec support du streaming
azd provision crée l’infrastructure ; azd deploy publie une nouvelle version d’agent — cycles de vie séparés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Jeu de données de référence : 8 catégories (vrai/faux positif, ambigu, données manquantes, outils contradictoires, injection de prompt, actions non autorisées, conclusions non étayées)
Déterministe : validité du schéma, citations requises, appels d’outils autorisés, contraintes de politique — rapide, reproductible
Juges Foundry vérifiés : cohérence, ancrage, respect de la tâche. Sept rapports par mesure, 21/21 réussites, seuils inchangés à 100 %
Huit captures, aucune violation déterministe ; inject-001 est un refus de sécurité vérifié sans outil, pas un résultat de juge
Les règles de politique (ex. ne jamais prétendre avoir agi sans autorisation) restent déterministes, pas jugées par LLM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pipelines manuels : déploiement direct PoC, ou deploy-and-evaluate.yml avec comptes et projets staging/production séparés
Flux complet : lint/tests → validation Bicep → déploiement d’un candidat immuable en staging → tests de fumée/contrat/streaming
La porte de qualité d’évaluation hors ligne s’exécute contre le candidat de staging avant toute approbation manuelle de production
Fédération OIDC sans secret — aucun secret client stocké dans les deux pipelines
Exécution 34178081808 réussie : staging 6, production 34, mêmes condensats MCP évalués, approbations normales. Récupération manuelle, sans rollback automatique ni canary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401 modèle a disparu en v32 ; le même principal réussit maintenant la mise en production complète v34
Vérifier le principal effectif, les dataActions, la portée, les conditions, les politiques réseau et l’audience du jeton
Les erreurs MCP distinctes ont été corrigées : point de terminaison versionné, connexions RemoteTool, négociation du protocole actuel
Le contexte original et les recherches indépendantes des spécialistes rétablissent les preuves ; seuils qualité inchangés
L’explication par le cache Azure reste une hypothèse. Un redéploiement réussi prouve le rétablissement, pas une cause racine côté serveur
Le ticket 2609040400007027 reste une référence historique ; aucune fermeture du ticket support n’est affirmée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pistes d’expérimentation : test de charge, checkpointer Cosmos DB, intégration Agent 365, évaluation continue
Porte Qualité réussie : 8 captures, aucune violation, 21/21 vérifications, refus de sécurité et reçus d’outils vérifiés
Portes Échelle, Sécurité, Opérations : Conditional — preuves partielles, suivis nommés
Portes Statut de plateforme, Données, Coût : Not testable in this PoC — nécessitent une confirmation commerciale/juridique/plateforme
Recommandation globale : go conditionnel pour poursuivre l’investissement PoC vers pilote, pas un oui/non net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déploiement et l’évaluation sont réels ; la télémétrie de sécurité MCP est synthétique, pas une donnée client réelle
Dépôt : github.com/devopsabcs-engineering/foundry-hosted-agents
Wiki : architecture actuelle, artefacts vérifiés, guide opérationnel et historique WI-11 résolu
Labs complets, bilingues, pas à pas : le site GitHub Pages compagnon de ce deck
Test de production v34 réussi ; zéro exception récente ne prouve ni l’endurance ni le traçage distribué complet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devopsabcs-engineering/foundry-hosted-agents/actions/runs/34178081808" TargetMode="Externa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devopsabcs-engineering/foundry-hosted-agents/actions/runs/34178081808" TargetMode="External"/><Relationship Id="rId1"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devopsabcs-engineering/foundry-hosted-agents/actions/runs/34178081808" TargetMode="Externa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devopsabcs-engineering/foundry-hosted-agents/actions/runs/34178081808"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01B3D"/>
          </a:solidFill>
          <a:ln/>
        </p:spPr>
      </p:sp>
      <p:sp>
        <p:nvSpPr>
          <p:cNvPr id="3" name="Text 1"/>
          <p:cNvSpPr/>
          <p:nvPr/>
        </p:nvSpPr>
        <p:spPr>
          <a:xfrm>
            <a:off x="731520" y="2468880"/>
            <a:ext cx="10698480" cy="1188720"/>
          </a:xfrm>
          <a:prstGeom prst="rect">
            <a:avLst/>
          </a:prstGeom>
          <a:noFill/>
          <a:ln/>
        </p:spPr>
        <p:txBody>
          <a:bodyPr wrap="square" rtlCol="0" anchor="ctr"/>
          <a:lstStyle/>
          <a:p>
            <a:pPr indent="0" marL="0">
              <a:buNone/>
            </a:pPr>
            <a:r>
              <a:rPr lang="en-US" sz="4000" b="1" dirty="0">
                <a:solidFill>
                  <a:srgbClr val="FFFFFF"/>
                </a:solidFill>
                <a:latin typeface="Segoe UI" pitchFamily="34" charset="0"/>
                <a:ea typeface="Segoe UI" pitchFamily="34" charset="-122"/>
                <a:cs typeface="Segoe UI" pitchFamily="34" charset="-120"/>
              </a:rPr>
              <a:t>Atelier Foundry Hosted Agents</a:t>
            </a:r>
            <a:endParaRPr lang="en-US" sz="4000" dirty="0"/>
          </a:p>
        </p:txBody>
      </p:sp>
      <p:sp>
        <p:nvSpPr>
          <p:cNvPr id="4" name="Text 2"/>
          <p:cNvSpPr/>
          <p:nvPr/>
        </p:nvSpPr>
        <p:spPr>
          <a:xfrm>
            <a:off x="731520" y="3566160"/>
            <a:ext cx="10698480" cy="731520"/>
          </a:xfrm>
          <a:prstGeom prst="rect">
            <a:avLst/>
          </a:prstGeom>
          <a:noFill/>
          <a:ln/>
        </p:spPr>
        <p:txBody>
          <a:bodyPr wrap="square" rtlCol="0" anchor="ctr"/>
          <a:lstStyle/>
          <a:p>
            <a:pPr indent="0" marL="0">
              <a:buNone/>
            </a:pPr>
            <a:r>
              <a:rPr lang="en-US" sz="1800" i="1" dirty="0">
                <a:solidFill>
                  <a:srgbClr val="CFE4FA"/>
                </a:solidFill>
                <a:latin typeface="Segoe UI" pitchFamily="34" charset="0"/>
                <a:ea typeface="Segoe UI" pitchFamily="34" charset="-122"/>
                <a:cs typeface="Segoe UI" pitchFamily="34" charset="-120"/>
              </a:rPr>
              <a:t>Pratique : héberger un véritable système multi-agent LangGraph sur Microsoft Foundry</a:t>
            </a:r>
            <a:endParaRPr lang="en-US" sz="1800" dirty="0"/>
          </a:p>
        </p:txBody>
      </p:sp>
      <p:sp>
        <p:nvSpPr>
          <p:cNvPr id="5" name="Text 3"/>
          <p:cNvSpPr/>
          <p:nvPr/>
        </p:nvSpPr>
        <p:spPr>
          <a:xfrm>
            <a:off x="731520" y="6126480"/>
            <a:ext cx="10698480" cy="365760"/>
          </a:xfrm>
          <a:prstGeom prst="rect">
            <a:avLst/>
          </a:prstGeom>
          <a:noFill/>
          <a:ln/>
        </p:spPr>
        <p:txBody>
          <a:bodyPr wrap="square" rtlCol="0" anchor="ctr"/>
          <a:lstStyle/>
          <a:p>
            <a:pPr indent="0" marL="0">
              <a:buNone/>
            </a:pPr>
            <a:r>
              <a:rPr lang="en-US" sz="1200" dirty="0">
                <a:solidFill>
                  <a:srgbClr val="8AB4E0"/>
                </a:solidFill>
                <a:latin typeface="Segoe UI" pitchFamily="34" charset="0"/>
                <a:ea typeface="Segoe UI" pitchFamily="34" charset="-122"/>
                <a:cs typeface="Segoe UI" pitchFamily="34" charset="-120"/>
              </a:rPr>
              <a:t>devopsabcs-engineering/foundry-hosted-agents</a:t>
            </a:r>
            <a:endParaRPr lang="en-US" sz="1200" dirty="0"/>
          </a:p>
        </p:txBody>
      </p:sp>
      <p:sp>
        <p:nvSpPr>
          <p:cNvPr id="7" name="Text 4"/>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 / 14</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146304"/>
            <a:ext cx="11338560" cy="502920"/>
          </a:xfrm>
          <a:prstGeom prst="rect">
            <a:avLst/>
          </a:prstGeom>
          <a:noFill/>
          <a:ln/>
        </p:spPr>
        <p:txBody>
          <a:bodyPr wrap="square" rtlCol="0" anchor="ctr"/>
          <a:lstStyle/>
          <a:p>
            <a:pPr indent="0" marL="0">
              <a:buNone/>
            </a:pPr>
            <a:r>
              <a:rPr lang="en-US" sz="2400" b="1" dirty="0">
                <a:solidFill>
                  <a:srgbClr val="146C54"/>
                </a:solidFill>
                <a:latin typeface="Segoe UI" pitchFamily="34" charset="0"/>
                <a:ea typeface="Segoe UI" pitchFamily="34" charset="-122"/>
                <a:cs typeface="Segoe UI" pitchFamily="34" charset="-120"/>
              </a:rPr>
              <a:t>Mise en production vérifiée : staging vers production</a:t>
            </a:r>
            <a:endParaRPr lang="en-US" sz="2400" dirty="0"/>
          </a:p>
        </p:txBody>
      </p:sp>
      <p:pic>
        <p:nvPicPr>
          <p:cNvPr id="3" name="Image 0" descr="Mise en production vérifiée : staging vers production">    </p:cNvPr>
          <p:cNvPicPr>
            <a:picLocks noChangeAspect="1"/>
          </p:cNvPicPr>
          <p:nvPr/>
        </p:nvPicPr>
        <p:blipFill>
          <a:blip r:embed="rId1"/>
          <a:stretch>
            <a:fillRect/>
          </a:stretch>
        </p:blipFill>
        <p:spPr>
          <a:xfrm>
            <a:off x="2068830" y="777240"/>
            <a:ext cx="8051292" cy="5367528"/>
          </a:xfrm>
          <a:prstGeom prst="rect">
            <a:avLst/>
          </a:prstGeom>
        </p:spPr>
      </p:pic>
      <p:sp>
        <p:nvSpPr>
          <p:cNvPr id="4" name="Text 1"/>
          <p:cNvSpPr/>
          <p:nvPr/>
        </p:nvSpPr>
        <p:spPr>
          <a:xfrm>
            <a:off x="411480" y="6245352"/>
            <a:ext cx="11338560" cy="256032"/>
          </a:xfrm>
          <a:prstGeom prst="rect">
            <a:avLst/>
          </a:prstGeom>
          <a:noFill/>
          <a:ln/>
        </p:spPr>
        <p:txBody>
          <a:bodyPr wrap="square" rtlCol="0" anchor="ctr"/>
          <a:lstStyle/>
          <a:p>
            <a:pPr indent="0" marL="0">
              <a:buNone/>
            </a:pPr>
            <a:r>
              <a:rPr lang="en-US" sz="1000" dirty="0">
                <a:solidFill>
                  <a:srgbClr val="53635E"/>
                </a:solidFill>
                <a:latin typeface="Segoe UI" pitchFamily="34" charset="0"/>
                <a:ea typeface="Segoe UI" pitchFamily="34" charset="-122"/>
                <a:cs typeface="Segoe UI" pitchFamily="34" charset="-120"/>
              </a:rPr>
              <a:t>Rendu des artefacts, pas une capture du portail. Données synthétiques. Sources et SHA-256 conservés.</a:t>
            </a:r>
            <a:endParaRPr lang="en-US" sz="1000" dirty="0"/>
          </a:p>
        </p:txBody>
      </p:sp>
      <p:sp>
        <p:nvSpPr>
          <p:cNvPr id="5" name="Text 2">
            <a:hlinkClick r:id="rId2" tooltip=""/>
          </p:cNvPr>
          <p:cNvSpPr/>
          <p:nvPr/>
        </p:nvSpPr>
        <p:spPr>
          <a:xfrm>
            <a:off x="411480" y="6528816"/>
            <a:ext cx="10515600" cy="201168"/>
          </a:xfrm>
          <a:prstGeom prst="rect">
            <a:avLst/>
          </a:prstGeom>
          <a:noFill/>
          <a:ln/>
        </p:spPr>
        <p:txBody>
          <a:bodyPr wrap="square" rtlCol="0" anchor="ctr"/>
          <a:lstStyle/>
          <a:p>
            <a:pPr indent="0" marL="0">
              <a:buNone/>
            </a:pPr>
            <a:r>
              <a:rPr lang="en-US" sz="900" u="sng" dirty="0">
                <a:solidFill>
                  <a:srgbClr val="075C9B"/>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 Actions 34178081808 | f3da486 | 2026-09-08 UTC</a:t>
            </a:r>
            <a:endParaRPr lang="en-US" sz="900" dirty="0"/>
          </a:p>
        </p:txBody>
      </p:sp>
      <p:sp>
        <p:nvSpPr>
          <p:cNvPr id="7" name="Text 3"/>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2 / 14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146304"/>
            <a:ext cx="11338560" cy="502920"/>
          </a:xfrm>
          <a:prstGeom prst="rect">
            <a:avLst/>
          </a:prstGeom>
          <a:noFill/>
          <a:ln/>
        </p:spPr>
        <p:txBody>
          <a:bodyPr wrap="square" rtlCol="0" anchor="ctr"/>
          <a:lstStyle/>
          <a:p>
            <a:pPr indent="0" marL="0">
              <a:buNone/>
            </a:pPr>
            <a:r>
              <a:rPr lang="en-US" sz="2400" b="1" dirty="0">
                <a:solidFill>
                  <a:srgbClr val="146C54"/>
                </a:solidFill>
                <a:latin typeface="Segoe UI" pitchFamily="34" charset="0"/>
                <a:ea typeface="Segoe UI" pitchFamily="34" charset="-122"/>
                <a:cs typeface="Segoe UI" pitchFamily="34" charset="-120"/>
              </a:rPr>
              <a:t>Porte qualité : 21 vérifications sur 21 réussies</a:t>
            </a:r>
            <a:endParaRPr lang="en-US" sz="2400" dirty="0"/>
          </a:p>
        </p:txBody>
      </p:sp>
      <p:pic>
        <p:nvPicPr>
          <p:cNvPr id="3" name="Image 0" descr="Porte qualité : 21 vérifications sur 21 réussies">    </p:cNvPr>
          <p:cNvPicPr>
            <a:picLocks noChangeAspect="1"/>
          </p:cNvPicPr>
          <p:nvPr/>
        </p:nvPicPr>
        <p:blipFill>
          <a:blip r:embed="rId1"/>
          <a:stretch>
            <a:fillRect/>
          </a:stretch>
        </p:blipFill>
        <p:spPr>
          <a:xfrm>
            <a:off x="2068830" y="777240"/>
            <a:ext cx="8051292" cy="5367528"/>
          </a:xfrm>
          <a:prstGeom prst="rect">
            <a:avLst/>
          </a:prstGeom>
        </p:spPr>
      </p:pic>
      <p:sp>
        <p:nvSpPr>
          <p:cNvPr id="4" name="Text 1"/>
          <p:cNvSpPr/>
          <p:nvPr/>
        </p:nvSpPr>
        <p:spPr>
          <a:xfrm>
            <a:off x="411480" y="6245352"/>
            <a:ext cx="11338560" cy="256032"/>
          </a:xfrm>
          <a:prstGeom prst="rect">
            <a:avLst/>
          </a:prstGeom>
          <a:noFill/>
          <a:ln/>
        </p:spPr>
        <p:txBody>
          <a:bodyPr wrap="square" rtlCol="0" anchor="ctr"/>
          <a:lstStyle/>
          <a:p>
            <a:pPr indent="0" marL="0">
              <a:buNone/>
            </a:pPr>
            <a:r>
              <a:rPr lang="en-US" sz="1000" dirty="0">
                <a:solidFill>
                  <a:srgbClr val="53635E"/>
                </a:solidFill>
                <a:latin typeface="Segoe UI" pitchFamily="34" charset="0"/>
                <a:ea typeface="Segoe UI" pitchFamily="34" charset="-122"/>
                <a:cs typeface="Segoe UI" pitchFamily="34" charset="-120"/>
              </a:rPr>
              <a:t>Rendu des artefacts, pas une capture du portail. Données synthétiques. Sources et SHA-256 conservés.</a:t>
            </a:r>
            <a:endParaRPr lang="en-US" sz="1000" dirty="0"/>
          </a:p>
        </p:txBody>
      </p:sp>
      <p:sp>
        <p:nvSpPr>
          <p:cNvPr id="5" name="Text 2">
            <a:hlinkClick r:id="rId2" tooltip=""/>
          </p:cNvPr>
          <p:cNvSpPr/>
          <p:nvPr/>
        </p:nvSpPr>
        <p:spPr>
          <a:xfrm>
            <a:off x="411480" y="6528816"/>
            <a:ext cx="10515600" cy="201168"/>
          </a:xfrm>
          <a:prstGeom prst="rect">
            <a:avLst/>
          </a:prstGeom>
          <a:noFill/>
          <a:ln/>
        </p:spPr>
        <p:txBody>
          <a:bodyPr wrap="square" rtlCol="0" anchor="ctr"/>
          <a:lstStyle/>
          <a:p>
            <a:pPr indent="0" marL="0">
              <a:buNone/>
            </a:pPr>
            <a:r>
              <a:rPr lang="en-US" sz="900" u="sng" dirty="0">
                <a:solidFill>
                  <a:srgbClr val="075C9B"/>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 Actions 34178081808 | f3da486 | 2026-09-08 UTC</a:t>
            </a:r>
            <a:endParaRPr lang="en-US" sz="900" dirty="0"/>
          </a:p>
        </p:txBody>
      </p:sp>
      <p:sp>
        <p:nvSpPr>
          <p:cNvPr id="7" name="Text 3"/>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3 / 14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146304"/>
            <a:ext cx="11338560" cy="502920"/>
          </a:xfrm>
          <a:prstGeom prst="rect">
            <a:avLst/>
          </a:prstGeom>
          <a:noFill/>
          <a:ln/>
        </p:spPr>
        <p:txBody>
          <a:bodyPr wrap="square" rtlCol="0" anchor="ctr"/>
          <a:lstStyle/>
          <a:p>
            <a:pPr indent="0" marL="0">
              <a:buNone/>
            </a:pPr>
            <a:r>
              <a:rPr lang="en-US" sz="2400" b="1" dirty="0">
                <a:solidFill>
                  <a:srgbClr val="146C54"/>
                </a:solidFill>
                <a:latin typeface="Segoe UI" pitchFamily="34" charset="0"/>
                <a:ea typeface="Segoe UI" pitchFamily="34" charset="-122"/>
                <a:cs typeface="Segoe UI" pitchFamily="34" charset="-120"/>
              </a:rPr>
              <a:t>Exécution des outils prouvée ; télémétrie synthétique</a:t>
            </a:r>
            <a:endParaRPr lang="en-US" sz="2400" dirty="0"/>
          </a:p>
        </p:txBody>
      </p:sp>
      <p:pic>
        <p:nvPicPr>
          <p:cNvPr id="3" name="Image 0" descr="Exécution des outils prouvée ; télémétrie synthétique">    </p:cNvPr>
          <p:cNvPicPr>
            <a:picLocks noChangeAspect="1"/>
          </p:cNvPicPr>
          <p:nvPr/>
        </p:nvPicPr>
        <p:blipFill>
          <a:blip r:embed="rId1"/>
          <a:stretch>
            <a:fillRect/>
          </a:stretch>
        </p:blipFill>
        <p:spPr>
          <a:xfrm>
            <a:off x="2068830" y="777240"/>
            <a:ext cx="8051292" cy="5367528"/>
          </a:xfrm>
          <a:prstGeom prst="rect">
            <a:avLst/>
          </a:prstGeom>
        </p:spPr>
      </p:pic>
      <p:sp>
        <p:nvSpPr>
          <p:cNvPr id="4" name="Text 1"/>
          <p:cNvSpPr/>
          <p:nvPr/>
        </p:nvSpPr>
        <p:spPr>
          <a:xfrm>
            <a:off x="411480" y="6245352"/>
            <a:ext cx="11338560" cy="256032"/>
          </a:xfrm>
          <a:prstGeom prst="rect">
            <a:avLst/>
          </a:prstGeom>
          <a:noFill/>
          <a:ln/>
        </p:spPr>
        <p:txBody>
          <a:bodyPr wrap="square" rtlCol="0" anchor="ctr"/>
          <a:lstStyle/>
          <a:p>
            <a:pPr indent="0" marL="0">
              <a:buNone/>
            </a:pPr>
            <a:r>
              <a:rPr lang="en-US" sz="1000" dirty="0">
                <a:solidFill>
                  <a:srgbClr val="53635E"/>
                </a:solidFill>
                <a:latin typeface="Segoe UI" pitchFamily="34" charset="0"/>
                <a:ea typeface="Segoe UI" pitchFamily="34" charset="-122"/>
                <a:cs typeface="Segoe UI" pitchFamily="34" charset="-120"/>
              </a:rPr>
              <a:t>Rendu des artefacts, pas une capture du portail. Données synthétiques. Sources et SHA-256 conservés.</a:t>
            </a:r>
            <a:endParaRPr lang="en-US" sz="1000" dirty="0"/>
          </a:p>
        </p:txBody>
      </p:sp>
      <p:sp>
        <p:nvSpPr>
          <p:cNvPr id="5" name="Text 2">
            <a:hlinkClick r:id="rId2" tooltip=""/>
          </p:cNvPr>
          <p:cNvSpPr/>
          <p:nvPr/>
        </p:nvSpPr>
        <p:spPr>
          <a:xfrm>
            <a:off x="411480" y="6528816"/>
            <a:ext cx="10515600" cy="201168"/>
          </a:xfrm>
          <a:prstGeom prst="rect">
            <a:avLst/>
          </a:prstGeom>
          <a:noFill/>
          <a:ln/>
        </p:spPr>
        <p:txBody>
          <a:bodyPr wrap="square" rtlCol="0" anchor="ctr"/>
          <a:lstStyle/>
          <a:p>
            <a:pPr indent="0" marL="0">
              <a:buNone/>
            </a:pPr>
            <a:r>
              <a:rPr lang="en-US" sz="900" u="sng" dirty="0">
                <a:solidFill>
                  <a:srgbClr val="075C9B"/>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 Actions 34178081808 | f3da486 | 2026-09-08 UTC</a:t>
            </a:r>
            <a:endParaRPr lang="en-US" sz="900" dirty="0"/>
          </a:p>
        </p:txBody>
      </p:sp>
      <p:sp>
        <p:nvSpPr>
          <p:cNvPr id="7" name="Text 3"/>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4 / 14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146304"/>
            <a:ext cx="11338560" cy="502920"/>
          </a:xfrm>
          <a:prstGeom prst="rect">
            <a:avLst/>
          </a:prstGeom>
          <a:noFill/>
          <a:ln/>
        </p:spPr>
        <p:txBody>
          <a:bodyPr wrap="square" rtlCol="0" anchor="ctr"/>
          <a:lstStyle/>
          <a:p>
            <a:pPr indent="0" marL="0">
              <a:buNone/>
            </a:pPr>
            <a:r>
              <a:rPr lang="en-US" sz="2400" b="1" dirty="0">
                <a:solidFill>
                  <a:srgbClr val="146C54"/>
                </a:solidFill>
                <a:latin typeface="Segoe UI" pitchFamily="34" charset="0"/>
                <a:ea typeface="Segoe UI" pitchFamily="34" charset="-122"/>
                <a:cs typeface="Segoe UI" pitchFamily="34" charset="-120"/>
              </a:rPr>
              <a:t>Production 34 : active, test de fumée réussi</a:t>
            </a:r>
            <a:endParaRPr lang="en-US" sz="2400" dirty="0"/>
          </a:p>
        </p:txBody>
      </p:sp>
      <p:pic>
        <p:nvPicPr>
          <p:cNvPr id="3" name="Image 0" descr="Production 34 : active, test de fumée réussi">    </p:cNvPr>
          <p:cNvPicPr>
            <a:picLocks noChangeAspect="1"/>
          </p:cNvPicPr>
          <p:nvPr/>
        </p:nvPicPr>
        <p:blipFill>
          <a:blip r:embed="rId1"/>
          <a:stretch>
            <a:fillRect/>
          </a:stretch>
        </p:blipFill>
        <p:spPr>
          <a:xfrm>
            <a:off x="2068830" y="777240"/>
            <a:ext cx="8051292" cy="5367528"/>
          </a:xfrm>
          <a:prstGeom prst="rect">
            <a:avLst/>
          </a:prstGeom>
        </p:spPr>
      </p:pic>
      <p:sp>
        <p:nvSpPr>
          <p:cNvPr id="4" name="Text 1"/>
          <p:cNvSpPr/>
          <p:nvPr/>
        </p:nvSpPr>
        <p:spPr>
          <a:xfrm>
            <a:off x="411480" y="6245352"/>
            <a:ext cx="11338560" cy="256032"/>
          </a:xfrm>
          <a:prstGeom prst="rect">
            <a:avLst/>
          </a:prstGeom>
          <a:noFill/>
          <a:ln/>
        </p:spPr>
        <p:txBody>
          <a:bodyPr wrap="square" rtlCol="0" anchor="ctr"/>
          <a:lstStyle/>
          <a:p>
            <a:pPr indent="0" marL="0">
              <a:buNone/>
            </a:pPr>
            <a:r>
              <a:rPr lang="en-US" sz="1000" dirty="0">
                <a:solidFill>
                  <a:srgbClr val="53635E"/>
                </a:solidFill>
                <a:latin typeface="Segoe UI" pitchFamily="34" charset="0"/>
                <a:ea typeface="Segoe UI" pitchFamily="34" charset="-122"/>
                <a:cs typeface="Segoe UI" pitchFamily="34" charset="-120"/>
              </a:rPr>
              <a:t>Rendu des artefacts, pas une capture du portail. Données synthétiques. Sources et SHA-256 conservés.</a:t>
            </a:r>
            <a:endParaRPr lang="en-US" sz="1000" dirty="0"/>
          </a:p>
        </p:txBody>
      </p:sp>
      <p:sp>
        <p:nvSpPr>
          <p:cNvPr id="5" name="Text 2">
            <a:hlinkClick r:id="rId2" tooltip=""/>
          </p:cNvPr>
          <p:cNvSpPr/>
          <p:nvPr/>
        </p:nvSpPr>
        <p:spPr>
          <a:xfrm>
            <a:off x="411480" y="6528816"/>
            <a:ext cx="10515600" cy="201168"/>
          </a:xfrm>
          <a:prstGeom prst="rect">
            <a:avLst/>
          </a:prstGeom>
          <a:noFill/>
          <a:ln/>
        </p:spPr>
        <p:txBody>
          <a:bodyPr wrap="square" rtlCol="0" anchor="ctr"/>
          <a:lstStyle/>
          <a:p>
            <a:pPr indent="0" marL="0">
              <a:buNone/>
            </a:pPr>
            <a:r>
              <a:rPr lang="en-US" sz="900" u="sng" dirty="0">
                <a:solidFill>
                  <a:srgbClr val="075C9B"/>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 Actions 34178081808 | f3da486 | 2026-09-08 UTC</a:t>
            </a:r>
            <a:endParaRPr lang="en-US" sz="900" dirty="0"/>
          </a:p>
        </p:txBody>
      </p:sp>
      <p:sp>
        <p:nvSpPr>
          <p:cNvPr id="7" name="Text 3"/>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5 / 14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PROGRAMME</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Neuf labs, un déploiement réel</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00 — Prérequis et configuration de l’environnement</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01 — Plongée dans l’architecture (superviseur/spécialistes LangGraph)</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02 — Déployer les serveurs d’outils MCP</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03 — Provisionner et déployer l’agent hébergé (azd)</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04 — Invoquer l’agent et lire les traces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05 — Évaluations : déterministes + LLM-as-judge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06 — CI/CD : pipeline contrôlé par évaluation</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07 — Dépannage réel : erreur RBAC 401</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08 — Préparation à la production et portes de décision</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Atelier Foundry Hosted Agents</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6 / 14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ARCHITECTURE</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Graphe superviseur + spécialistes</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Un superviseur LangGraph route vers trois nœuds spécialistes : Enquêteur de preuves, Analyste de risque, Rédacteur de rapport</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Chaque spécialiste a son propre prompt, ses permissions d’outils et ses critères d’évaluation</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Isolation des outils par rôle : Enquêteur de preuves → defender-conn uniquement, Analyste de risque → anomaly-conn uniquement</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Le Rédacteur de rapport n’a aucun accès aux outils — il ne fait que synthétiser</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Le transport MCP versionné, les jetons Entra renouvelés et les connexions RemoteTool fonctionnent ; les reçus prouvent les appels des spécialistes</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Atelier Foundry Hosted Agents</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7 / 14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OUTILS</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Quatre couches : implémenter, héberger, enregistrer, consommer</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Couche 1 — Implémentation : code de serveur MCP personnalisé (outils Defender, outils anomalie)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Couche 2 — Hébergement : Azure Container Apps indépendantes, authentification/réseau/santé propres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Couche 3 — Enregistrement : les connexions Foundry définissent le point de terminaison + la politique d’identifiants par serveur MCP</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Couche 4 — Consommation : la Foundry Toolbox agrège les outils enregistrés pour réutilisation entre agents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 Toolbox est la couche d’enregistrement/agrégation — pas le runtime d’hébergement de votre code MCP</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Atelier Foundry Hosted Agents</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8 / 14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DÉPLOIEMENT</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Un manifeste : azure.yaml + azd</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azure.yaml câble le projet Foundry, le déploiement de modèle, les connexions Toolbox et le service d’agent hébergé</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kind: hosted — Foundry exploite le calcul de session ; vous ne possédez que le code du graphe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dependencyResolution: remote_build — Foundry construit vos dépendances Python côté serveur</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protocol: responses — protocole Responses compatible OpenAI avec support du streaming</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azd provision crée l’infrastructure ; azd deploy publie une nouvelle version d’agent — cycles de vie séparés</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Atelier Foundry Hosted Agents</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9 / 14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ÉVALUATION</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Vérifications déterministes + rubriques LLM-as-judge</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Jeu de données de référence : 8 catégories (vrai/faux positif, ambigu, données manquantes, outils contradictoires, injection de prompt, actions non autorisées, conclusions non étayées)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Déterministe : validité du schéma, citations requises, appels d’outils autorisés, contraintes de politique — rapide, reproductible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Juges Foundry vérifiés : cohérence, ancrage, respect de la tâche. Sept rapports par mesure, 21/21 réussites, seuils inchangés à 100 %</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Huit captures, aucune violation déterministe ; inject-001 est un refus de sécurité vérifié sans outil, pas un résultat de juge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Les règles de politique (ex. ne jamais prétendre avoir agi sans autorisation) restent déterministes, pas jugées par LLM</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Atelier Foundry Hosted Agents</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10 / 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CI/CD</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Pipeline de mise en production contrôlé par évaluation</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Deux pipelines manuels : déploiement direct PoC, ou deploy-and-evaluate.yml avec comptes et projets staging/production séparés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Flux complet : lint/tests → validation Bicep → déploiement d’un candidat immuable en staging → tests de fumée/contrat/streaming</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 porte de qualité d’évaluation hors ligne s’exécute contre le candidat de staging avant toute approbation manuelle de production</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Fédération OIDC sans secret — aucun secret client stocké dans les deux pipelines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Exécution 34178081808 réussie : staging 6, production 34, mêmes condensats MCP évalués, approbations normales. Récupération manuelle, sans rollback automatique ni canary</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Atelier Foundry Hosted Agents</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11 / 14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07C10"/>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107C10"/>
                </a:solidFill>
                <a:latin typeface="Segoe UI" pitchFamily="34" charset="0"/>
                <a:ea typeface="Segoe UI" pitchFamily="34" charset="-122"/>
                <a:cs typeface="Segoe UI" pitchFamily="34" charset="-120"/>
              </a:rPr>
              <a:t>DÉPANNAGE RÉEL</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WI-11 résolu : distinguer observation et cause racine</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Le 401 modèle a disparu en v32 ; le même principal réussit maintenant la mise en production complète v34</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Vérifier le principal effectif, les dataActions, la portée, les conditions, les politiques réseau et l’audience du jeton</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Les erreurs MCP distinctes ont été corrigées : point de terminaison versionné, connexions RemoteTool, négociation du protocole actuel</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Le contexte original et les recherches indépendantes des spécialistes rétablissent les preuves ; seuils qualité inchangés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L’explication par le cache Azure reste une hypothèse. Un redéploiement réussi prouve le rétablissement, pas une cause racine côté serveur</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Le ticket 2609040400007027 reste une référence historique ; aucune fermeture du ticket support n’est affirmée</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Atelier Foundry Hosted Agents</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12 / 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PRÉPARATION À LA PRODUCTION</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Des portes honnêtes, pas une fausse confiance</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Quatre pistes d’expérimentation : test de charge, checkpointer Cosmos DB, intégration Agent 365, évaluation continue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Porte Qualité réussie : 8 captures, aucune violation, 21/21 vérifications, refus de sécurité et reçus d’outils vérifiés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Portes Échelle, Sécurité, Opérations : Conditional — preuves partielles, suivis nommés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Portes Statut de plateforme, Données, Coût : Not testable in this PoC — nécessitent une confirmation commerciale/juridique/plateforme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Recommandation globale : go conditionnel pour poursuivre l’investissement PoC vers pilote, pas un oui/non net</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Atelier Foundry Hosted Agents</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13 / 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CONCLUSION</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Une mise en production prouvée, des limites explicites</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Le déploiement et l’évaluation sont réels ; la télémétrie de sécurité MCP est synthétique, pas une donnée client réelle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Dépôt : github.com/devopsabcs-engineering/foundry-hosted-agents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Wiki : architecture actuelle, artefacts vérifiés, guide opérationnel et historique WI-11 résolu</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Labs complets, bilingues, pas à pas : le site GitHub Pages compagnon de ce deck</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Test de production v34 réussi ; zéro exception récente ne prouve ni l’endurance ni le traçage distribué complet</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Atelier Foundry Hosted Agents</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14 / 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2026-09-08T02:46:03Z</dcterms:created>
  <dcterms:modified xsi:type="dcterms:W3CDTF">2026-09-08T02:46:03Z</dcterms:modified>
</cp:coreProperties>
</file>