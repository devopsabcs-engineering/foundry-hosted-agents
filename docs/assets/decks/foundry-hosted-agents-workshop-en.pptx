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release 34178081808, 2026-09-08 UTC. WI-11 resolved for this implementation. Synthetic fixtures; production readiness remains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release jobs succeeded; recovery skipped. Staging 6; production 33 to 34. Both production gates used normal reviewer approval. PoC environment, not enterprise production certification.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captures; seven reports judged on coherence, groundedness, task adherence. All 21 passed at unchanged 100% thresholds. inject-001: deterministic safety refusal with no tools, not a judge pass. Zero policy failures. Incomplete output is retried, not rescored.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ToolMessage-derived receipts. tp-001 shows both Defender and both Anomaly tools. Receipts prove execution, not semantic correctness. Synthetic fixtures are not live Defender or airline telemetry. Safety case: no further tools. Bounded evidence attached to response.completed.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34 active, toolbox 1. Exact-version smoke succeeded. At 02:12:02 UTC AppExceptions for the trailing ten minutes returned zero. Not a ten-minute soak or complete tracing proof. Quality suite ran on staging. Production rebuilds the same source with evaluated MCP digests. Manual recovery; no automatic rollback or canary.
Source: https://github.com/devopsabcs-engineering/foundry-hosted-agents/actions/runs/34178081808
Evidence: assets/release-evidence/source; SHA-256 manifest: assets/release-evidence/manifest.json. Images render downloaded artifacts, not native portal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00 — Prerequisites and environment setup
Lab 01 — Architecture deep dive (LangGraph supervisor/specialists)
Lab 02 — Deploy the MCP tool servers
Lab 03 — Provision and deploy the hosted agent (azd)
Lab 04 — Invoke the agent and read traces
Lab 05 — Evaluations: deterministic + LLM-as-judge
Lab 06 — CI/CD: evaluation-gated release pipeline
Lab 07 — Real-world troubleshooting: RBAC 401
Lab 08 — Production readiness and decision gates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LangGraph supervisor routes to three specialist nodes: Evidence Investigator, Risk Analyst, Report Composer
Each specialist has its own prompt, tool permissions, and evaluation criteria
Tool isolation by role: Evidence Investigator → defender-conn only, Risk Analyst → anomaly-conn only
The Report Composer has zero tool access — it only synthesizes
Supported versioned MCP transport, fresh Entra tokens and RemoteTool connections now work; runtime receipts prove specialist tool execution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1 — Implementation: custom MCP server code (Defender tools, anomaly tools)
Layer 2 — Hosting: independent Azure Container Apps, own auth/networking/health checks
Layer 3 — Registration: Foundry connections define endpoint + credential policy per MCP server
Layer 4 — Consumption: Foundry Toolbox aggregates registered tools for reuse across agents
The Toolbox is the registration/aggregation layer — not the hosting runtime for your MCP code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azure.yaml wires the Foundry project, model deployment, Toolbox connections, and the hosted agent service
kind: hosted — Foundry operates the session compute; you own only the graph code
dependencyResolution: remote_build — Foundry builds your Python dependencies server-side
protocol: responses — OpenAI-compatible Responses protocol with streaming support
azd provision creates infrastructure; azd deploy publishes a new agent version — separate lifecycles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dataset: 8 categories (true/false positive, ambiguous, missing data, conflicting tools, prompt injection, unauthorized actions, unsupported conclusions)
Deterministic: schema validity, required citations, allowed tool calls, policy constraints — fast, reproducible
Verified Foundry judges: coherence, groundedness, task adherence. Seven reports per metric, 21/21 passed at unchanged 100% thresholds
Eight captures, zero deterministic policy failures; inject-001 is a verified safety refusal with no tool calls, not a model-judge result
Policy rules (e.g. never claim an unauthorized remediation action) stay deterministic, not LLM-judged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manual pipelines: direct PoC deployment, or deploy-and-evaluate.yml with isolated staging and production accounts/projects
Full flow: lint/tests → Bicep validate → deploy immutable candidate to staging → smoke/contract/streaming tests
Offline evaluation quality gate runs against the staging candidate before any manual production approval
Secretless OIDC federation — no stored client secrets in either pipeline
Run 34178081808 passed end to end: staging 6, production 34, exact evaluated MCP digests, normal approvals. Manual recovery; no automatic rollback or canary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Historical model 401 recovered on v32; the same runtime principal now passes the complete v34 production release
Validate the actual runtime principal, role dataActions, scope, conditions, network policy and token audience
Separate MCP failures were fixed with the supported versioned endpoint, RemoteTool connections and current protocol negotiation
Original incident propagation and independent specialist lookups restored required evidence; strict evaluation thresholds were unchanged
The old Azure cache explanation remains an unconfirmed hypothesis. A successful redeployment is recovery evidence, not a controlled server-side RCA
Support request 2609040400007027 is a historical reference; no support-ticket closure is claimed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experiment tracks: load testing, Cosmos DB checkpointer, Agent 365 onboarding, continuous evaluation
Quality gate passed: 8 captures, zero policy failures, 21/21 judge checks, verified safety refusal and tool receipts
Scale, Security, Operations gates: Conditional — partial evidence, named follow-ups
Platform status, Data, Cost gates: Not testable in this PoC — require commercial/legal/platform confirmation
Overall recommendation: conditional go for continued PoC-to-pilot investment, not an unconditional yes/no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deployment and evaluation ran for real; the MCP security telemetry is synthetic, not live customer data
Repository: github.com/devopsabcs-engineering/foundry-hosted-agents
Wiki: current architecture, verified release artifacts, operational runbook, and resolved WI-11 history
Full bilingual step-by-step labs: this deck’s companion GitHub Pages site
Production v34 smoke passed; zero trailing-window exceptions is not a soak test or proof of complete distributed tracing
Sources: repository code and wiki Release-Evidence / Operations. Verified release 34178081808; historical experiments retain their original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3-1.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devopsabcs-engineering/foundry-hosted-agents/actions/runs/34178081808"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01B3D"/>
          </a:solidFill>
          <a:ln/>
        </p:spPr>
      </p:sp>
      <p:sp>
        <p:nvSpPr>
          <p:cNvPr id="3" name="Text 1"/>
          <p:cNvSpPr/>
          <p:nvPr/>
        </p:nvSpPr>
        <p:spPr>
          <a:xfrm>
            <a:off x="731520" y="2468880"/>
            <a:ext cx="10698480" cy="1188720"/>
          </a:xfrm>
          <a:prstGeom prst="rect">
            <a:avLst/>
          </a:prstGeom>
          <a:noFill/>
          <a:ln/>
        </p:spPr>
        <p:txBody>
          <a:bodyPr wrap="square" rtlCol="0" anchor="ctr"/>
          <a:lstStyle/>
          <a:p>
            <a:pPr indent="0" marL="0">
              <a:buNone/>
            </a:pPr>
            <a:r>
              <a:rPr lang="en-US" sz="4000" b="1" dirty="0">
                <a:solidFill>
                  <a:srgbClr val="FFFFFF"/>
                </a:solidFill>
                <a:latin typeface="Segoe UI" pitchFamily="34" charset="0"/>
                <a:ea typeface="Segoe UI" pitchFamily="34" charset="-122"/>
                <a:cs typeface="Segoe UI" pitchFamily="34" charset="-120"/>
              </a:rPr>
              <a:t>Foundry Hosted Agents Workshop</a:t>
            </a:r>
            <a:endParaRPr lang="en-US" sz="4000" dirty="0"/>
          </a:p>
        </p:txBody>
      </p:sp>
      <p:sp>
        <p:nvSpPr>
          <p:cNvPr id="4" name="Text 2"/>
          <p:cNvSpPr/>
          <p:nvPr/>
        </p:nvSpPr>
        <p:spPr>
          <a:xfrm>
            <a:off x="731520" y="3566160"/>
            <a:ext cx="10698480" cy="731520"/>
          </a:xfrm>
          <a:prstGeom prst="rect">
            <a:avLst/>
          </a:prstGeom>
          <a:noFill/>
          <a:ln/>
        </p:spPr>
        <p:txBody>
          <a:bodyPr wrap="square" rtlCol="0" anchor="ctr"/>
          <a:lstStyle/>
          <a:p>
            <a:pPr indent="0" marL="0">
              <a:buNone/>
            </a:pPr>
            <a:r>
              <a:rPr lang="en-US" sz="1800" i="1" dirty="0">
                <a:solidFill>
                  <a:srgbClr val="CFE4FA"/>
                </a:solidFill>
                <a:latin typeface="Segoe UI" pitchFamily="34" charset="0"/>
                <a:ea typeface="Segoe UI" pitchFamily="34" charset="-122"/>
                <a:cs typeface="Segoe UI" pitchFamily="34" charset="-120"/>
              </a:rPr>
              <a:t>Hands-on: hosting a real LangGraph multi-agent system on Microsoft Foundry</a:t>
            </a:r>
            <a:endParaRPr lang="en-US" sz="1800" dirty="0"/>
          </a:p>
        </p:txBody>
      </p:sp>
      <p:sp>
        <p:nvSpPr>
          <p:cNvPr id="5" name="Text 3"/>
          <p:cNvSpPr/>
          <p:nvPr/>
        </p:nvSpPr>
        <p:spPr>
          <a:xfrm>
            <a:off x="731520" y="6126480"/>
            <a:ext cx="10698480" cy="365760"/>
          </a:xfrm>
          <a:prstGeom prst="rect">
            <a:avLst/>
          </a:prstGeom>
          <a:noFill/>
          <a:ln/>
        </p:spPr>
        <p:txBody>
          <a:bodyPr wrap="square" rtlCol="0" anchor="ctr"/>
          <a:lstStyle/>
          <a:p>
            <a:pPr indent="0" marL="0">
              <a:buNone/>
            </a:pPr>
            <a:r>
              <a:rPr lang="en-US" sz="1200" dirty="0">
                <a:solidFill>
                  <a:srgbClr val="8AB4E0"/>
                </a:solidFill>
                <a:latin typeface="Segoe UI" pitchFamily="34" charset="0"/>
                <a:ea typeface="Segoe UI" pitchFamily="34" charset="-122"/>
                <a:cs typeface="Segoe UI" pitchFamily="34" charset="-120"/>
              </a:rPr>
              <a:t>devopsabcs-engineering/foundry-hosted-agents</a:t>
            </a:r>
            <a:endParaRPr lang="en-US" sz="1200" dirty="0"/>
          </a:p>
        </p:txBody>
      </p:sp>
      <p:sp>
        <p:nvSpPr>
          <p:cNvPr id="7" name="Text 4"/>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 / 14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Verified Release: Staging to Production</a:t>
            </a:r>
            <a:endParaRPr lang="en-US" sz="2400" dirty="0"/>
          </a:p>
        </p:txBody>
      </p:sp>
      <p:pic>
        <p:nvPicPr>
          <p:cNvPr id="3" name="Image 0" descr="Verified Release: Staging to Production">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Artifact rendering, not a portal screenshot. Synthetic fixtures. Sources and SHA-256 hashes retained.</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2 / 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Quality Gate: 21 of 21 Judge Checks Passed</a:t>
            </a:r>
            <a:endParaRPr lang="en-US" sz="2400" dirty="0"/>
          </a:p>
        </p:txBody>
      </p:sp>
      <p:pic>
        <p:nvPicPr>
          <p:cNvPr id="3" name="Image 0" descr="Quality Gate: 21 of 21 Judge Checks Passed">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Artifact rendering, not a portal screenshot. Synthetic fixtures. Sources and SHA-256 hashes retained.</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3 / 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Tool Execution Proven; Telemetry Is Synthetic</a:t>
            </a:r>
            <a:endParaRPr lang="en-US" sz="2400" dirty="0"/>
          </a:p>
        </p:txBody>
      </p:sp>
      <p:pic>
        <p:nvPicPr>
          <p:cNvPr id="3" name="Image 0" descr="Tool Execution Proven; Telemetry Is Synthetic">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Artifact rendering, not a portal screenshot. Synthetic fixtures. Sources and SHA-256 hashes retained.</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4 /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11480" y="146304"/>
            <a:ext cx="11338560" cy="502920"/>
          </a:xfrm>
          <a:prstGeom prst="rect">
            <a:avLst/>
          </a:prstGeom>
          <a:noFill/>
          <a:ln/>
        </p:spPr>
        <p:txBody>
          <a:bodyPr wrap="square" rtlCol="0" anchor="ctr"/>
          <a:lstStyle/>
          <a:p>
            <a:pPr indent="0" marL="0">
              <a:buNone/>
            </a:pPr>
            <a:r>
              <a:rPr lang="en-US" sz="2400" b="1" dirty="0">
                <a:solidFill>
                  <a:srgbClr val="146C54"/>
                </a:solidFill>
                <a:latin typeface="Segoe UI" pitchFamily="34" charset="0"/>
                <a:ea typeface="Segoe UI" pitchFamily="34" charset="-122"/>
                <a:cs typeface="Segoe UI" pitchFamily="34" charset="-120"/>
              </a:rPr>
              <a:t>Production 34: Active, Smoke Test Passed</a:t>
            </a:r>
            <a:endParaRPr lang="en-US" sz="2400" dirty="0"/>
          </a:p>
        </p:txBody>
      </p:sp>
      <p:pic>
        <p:nvPicPr>
          <p:cNvPr id="3" name="Image 0" descr="Production 34: Active, Smoke Test Passed">    </p:cNvPr>
          <p:cNvPicPr>
            <a:picLocks noChangeAspect="1"/>
          </p:cNvPicPr>
          <p:nvPr/>
        </p:nvPicPr>
        <p:blipFill>
          <a:blip r:embed="rId1"/>
          <a:stretch>
            <a:fillRect/>
          </a:stretch>
        </p:blipFill>
        <p:spPr>
          <a:xfrm>
            <a:off x="2068830" y="777240"/>
            <a:ext cx="8051292" cy="5367528"/>
          </a:xfrm>
          <a:prstGeom prst="rect">
            <a:avLst/>
          </a:prstGeom>
        </p:spPr>
      </p:pic>
      <p:sp>
        <p:nvSpPr>
          <p:cNvPr id="4" name="Text 1"/>
          <p:cNvSpPr/>
          <p:nvPr/>
        </p:nvSpPr>
        <p:spPr>
          <a:xfrm>
            <a:off x="411480" y="6245352"/>
            <a:ext cx="11338560" cy="256032"/>
          </a:xfrm>
          <a:prstGeom prst="rect">
            <a:avLst/>
          </a:prstGeom>
          <a:noFill/>
          <a:ln/>
        </p:spPr>
        <p:txBody>
          <a:bodyPr wrap="square" rtlCol="0" anchor="ctr"/>
          <a:lstStyle/>
          <a:p>
            <a:pPr indent="0" marL="0">
              <a:buNone/>
            </a:pPr>
            <a:r>
              <a:rPr lang="en-US" sz="1000" dirty="0">
                <a:solidFill>
                  <a:srgbClr val="53635E"/>
                </a:solidFill>
                <a:latin typeface="Segoe UI" pitchFamily="34" charset="0"/>
                <a:ea typeface="Segoe UI" pitchFamily="34" charset="-122"/>
                <a:cs typeface="Segoe UI" pitchFamily="34" charset="-120"/>
              </a:rPr>
              <a:t>Artifact rendering, not a portal screenshot. Synthetic fixtures. Sources and SHA-256 hashes retained.</a:t>
            </a:r>
            <a:endParaRPr lang="en-US" sz="1000" dirty="0"/>
          </a:p>
        </p:txBody>
      </p:sp>
      <p:sp>
        <p:nvSpPr>
          <p:cNvPr id="5" name="Text 2">
            <a:hlinkClick r:id="rId2" tooltip=""/>
          </p:cNvPr>
          <p:cNvSpPr/>
          <p:nvPr/>
        </p:nvSpPr>
        <p:spPr>
          <a:xfrm>
            <a:off x="411480" y="6528816"/>
            <a:ext cx="10515600" cy="201168"/>
          </a:xfrm>
          <a:prstGeom prst="rect">
            <a:avLst/>
          </a:prstGeom>
          <a:noFill/>
          <a:ln/>
        </p:spPr>
        <p:txBody>
          <a:bodyPr wrap="square" rtlCol="0" anchor="ctr"/>
          <a:lstStyle/>
          <a:p>
            <a:pPr indent="0" marL="0">
              <a:buNone/>
            </a:pPr>
            <a:r>
              <a:rPr lang="en-US" sz="900" u="sng" dirty="0">
                <a:solidFill>
                  <a:srgbClr val="075C9B"/>
                </a:solidFill>
                <a:latin typeface="Segoe UI" pitchFamily="34" charset="0"/>
                <a:ea typeface="Segoe UI" pitchFamily="34" charset="-122"/>
                <a:cs typeface="Segoe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 Actions 34178081808 | f3da486 | 2026-09-08 UTC</a:t>
            </a:r>
            <a:endParaRPr lang="en-US" sz="900" dirty="0"/>
          </a:p>
        </p:txBody>
      </p:sp>
      <p:sp>
        <p:nvSpPr>
          <p:cNvPr id="7" name="Text 3"/>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5 / 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AGENDA</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Nine Labs, One Real Deployment</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00 — Prerequisites and environment setup</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01 — Architecture deep dive (LangGraph supervisor/specialists)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02 — Deploy the MCP tool servers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03 — Provision and deploy the hosted agent (azd)</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04 — Invoke the agent and read traces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05 — Evaluations: deterministic + LLM-as-judge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06 — CI/CD: evaluation-gated release pipeline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07 — Real-world troubleshooting: RBAC 401</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Lab 08 — Production readiness and decision gates</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6 / 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ARCHITECTURE</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Supervisor + Specialist Graph</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A LangGraph supervisor routes to three specialist nodes: Evidence Investigator, Risk Analyst, Report Composer</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Each specialist has its own prompt, tool permissions, and evaluation criteria</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Tool isolation by role: Evidence Investigator → defender-conn only, Risk Analyst → anomaly-conn only</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The Report Composer has zero tool access — it only synthesizes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Supported versioned MCP transport, fresh Entra tokens and RemoteTool connections now work; runtime receipts prove specialist tool execution</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7 / 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TOOLS</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Four Layers: Implement, Host, Register, Consume</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Layer 1 — Implementation: custom MCP server code (Defender tools, anomaly tools)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Layer 2 — Hosting: independent Azure Container Apps, own auth/networking/health checks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Layer 3 — Registration: Foundry connections define endpoint + credential policy per MCP server</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Layer 4 — Consumption: Foundry Toolbox aggregates registered tools for reuse across agents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The Toolbox is the registration/aggregation layer — not the hosting runtime for your MCP code</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8 / 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DEPLOYMENT</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One Manifest: azure.yaml + azd</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azure.yaml wires the Foundry project, model deployment, Toolbox connections, and the hosted agent service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kind: hosted — Foundry operates the session compute; you own only the graph code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dependencyResolution: remote_build — Foundry builds your Python dependencies server-side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protocol: responses — OpenAI-compatible Responses protocol with streaming support</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azd provision creates infrastructure; azd deploy publishes a new agent version — separate lifecycles</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9 / 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EVALUATION</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Deterministic Checks + LLM-as-Judge Rubrics</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Golden dataset: 8 categories (true/false positive, ambiguous, missing data, conflicting tools, prompt injection, unauthorized actions, unsupported conclusions)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Deterministic: schema validity, required citations, allowed tool calls, policy constraints — fast, reproducible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Verified Foundry judges: coherence, groundedness, task adherence. Seven reports per metric, 21/21 passed at unchanged 100% thresholds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Eight captures, zero deterministic policy failures; inject-001 is a verified safety refusal with no tool calls, not a model-judge result</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Policy rules (e.g. never claim an unauthorized remediation action) stay deterministic, not LLM-judged</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10 / 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CI/CD</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Evaluation-Gated Release Pipeline</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Two manual pipelines: direct PoC deployment, or deploy-and-evaluate.yml with isolated staging and production accounts/projects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Full flow: lint/tests → Bicep validate → deploy immutable candidate to staging → smoke/contract/streaming tests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Offline evaluation quality gate runs against the staging candidate before any manual production approval</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Secretless OIDC federation — no stored client secrets in either pipeline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Run 34178081808 passed end to end: staging 6, production 34, exact evaluated MCP digests, normal approvals. Manual recovery; no automatic rollback or canary</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11 / 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07C10"/>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107C10"/>
                </a:solidFill>
                <a:latin typeface="Segoe UI" pitchFamily="34" charset="0"/>
                <a:ea typeface="Segoe UI" pitchFamily="34" charset="-122"/>
                <a:cs typeface="Segoe UI" pitchFamily="34" charset="-120"/>
              </a:rPr>
              <a:t>REAL-WORLD TROUBLESHOOTING</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WI-11 Resolved: Separate Observation from RCA</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Historical model 401 recovered on v32; the same runtime principal now passes the complete v34 production release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Validate the actual runtime principal, role dataActions, scope, conditions, network policy and token audience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Separate MCP failures were fixed with the supported versioned endpoint, RemoteTool connections and current protocol negotiation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Original incident propagation and independent specialist lookups restored required evidence; strict evaluation thresholds were unchanged</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The old Azure cache explanation remains an unconfirmed hypothesis. A successful redeployment is recovery evidence, not a controlled server-side RCA</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Support request 2609040400007027 is a historical reference; no support-ticket closure is claimed</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12 / 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PRODUCTION READINESS</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Honest Gates, Not False Confidence</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Four experiment tracks: load testing, Cosmos DB checkpointer, Agent 365 onboarding, continuous evaluation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Quality gate passed: 8 captures, zero policy failures, 21/21 judge checks, verified safety refusal and tool receipts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Scale, Security, Operations gates: Conditional — partial evidence, named follow-ups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Platform status, Data, Cost gates: Not testable in this PoC — require commercial/legal/platform confirmation</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Overall recommendation: conditional go for continued PoC-to-pilot investment, not an unconditional yes/no</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13 / 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078D4"/>
          </a:solidFill>
          <a:ln/>
        </p:spPr>
      </p:sp>
      <p:sp>
        <p:nvSpPr>
          <p:cNvPr id="3" name="Text 1"/>
          <p:cNvSpPr/>
          <p:nvPr/>
        </p:nvSpPr>
        <p:spPr>
          <a:xfrm>
            <a:off x="457200" y="292608"/>
            <a:ext cx="11247120" cy="274320"/>
          </a:xfrm>
          <a:prstGeom prst="rect">
            <a:avLst/>
          </a:prstGeom>
          <a:noFill/>
          <a:ln/>
        </p:spPr>
        <p:txBody>
          <a:bodyPr wrap="square" rtlCol="0" anchor="ctr"/>
          <a:lstStyle/>
          <a:p>
            <a:pPr indent="0" marL="0">
              <a:buNone/>
            </a:pPr>
            <a:r>
              <a:rPr lang="en-US" sz="1100" b="1" spc="100" kern="0" dirty="0">
                <a:solidFill>
                  <a:srgbClr val="0078D4"/>
                </a:solidFill>
                <a:latin typeface="Segoe UI" pitchFamily="34" charset="0"/>
                <a:ea typeface="Segoe UI" pitchFamily="34" charset="-122"/>
                <a:cs typeface="Segoe UI" pitchFamily="34" charset="-120"/>
              </a:rPr>
              <a:t>WRAP-UP</a:t>
            </a:r>
            <a:endParaRPr lang="en-US" sz="1100" dirty="0"/>
          </a:p>
        </p:txBody>
      </p:sp>
      <p:sp>
        <p:nvSpPr>
          <p:cNvPr id="4" name="Text 2"/>
          <p:cNvSpPr/>
          <p:nvPr/>
        </p:nvSpPr>
        <p:spPr>
          <a:xfrm>
            <a:off x="457200" y="548640"/>
            <a:ext cx="11247120" cy="640080"/>
          </a:xfrm>
          <a:prstGeom prst="rect">
            <a:avLst/>
          </a:prstGeom>
          <a:noFill/>
          <a:ln/>
        </p:spPr>
        <p:txBody>
          <a:bodyPr wrap="square" rtlCol="0" anchor="ctr"/>
          <a:lstStyle/>
          <a:p>
            <a:pPr indent="0" marL="0">
              <a:buNone/>
            </a:pPr>
            <a:r>
              <a:rPr lang="en-US" sz="2600" b="1" dirty="0">
                <a:solidFill>
                  <a:srgbClr val="001B3D"/>
                </a:solidFill>
                <a:latin typeface="Segoe UI" pitchFamily="34" charset="0"/>
                <a:ea typeface="Segoe UI" pitchFamily="34" charset="-122"/>
                <a:cs typeface="Segoe UI" pitchFamily="34" charset="-120"/>
              </a:rPr>
              <a:t>A Proven Release, with Explicit Limits</a:t>
            </a:r>
            <a:endParaRPr lang="en-US" sz="2600" dirty="0"/>
          </a:p>
        </p:txBody>
      </p:sp>
      <p:sp>
        <p:nvSpPr>
          <p:cNvPr id="5" name="Shape 3"/>
          <p:cNvSpPr/>
          <p:nvPr/>
        </p:nvSpPr>
        <p:spPr>
          <a:xfrm>
            <a:off x="457200" y="1188720"/>
            <a:ext cx="11247120" cy="10973"/>
          </a:xfrm>
          <a:prstGeom prst="rect">
            <a:avLst/>
          </a:prstGeom>
          <a:solidFill>
            <a:srgbClr val="E1E5E8"/>
          </a:solidFill>
          <a:ln/>
        </p:spPr>
      </p:sp>
      <p:sp>
        <p:nvSpPr>
          <p:cNvPr id="6" name="Text 4"/>
          <p:cNvSpPr/>
          <p:nvPr/>
        </p:nvSpPr>
        <p:spPr>
          <a:xfrm>
            <a:off x="548640" y="1463040"/>
            <a:ext cx="11064240" cy="5029200"/>
          </a:xfrm>
          <a:prstGeom prst="rect">
            <a:avLst/>
          </a:prstGeom>
          <a:noFill/>
          <a:ln/>
        </p:spPr>
        <p:txBody>
          <a:bodyPr wrap="square" rtlCol="0" anchor="t"/>
          <a:lstStyle/>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The deployment and evaluation ran for real; the MCP security telemetry is synthetic, not live customer data</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Repository: github.com/devopsabcs-engineering/foundry-hosted-agents</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Wiki: current architecture, verified release artifacts, operational runbook, and resolved WI-11 history</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Full bilingual step-by-step labs: this deck’s companion GitHub Pages site</a:t>
            </a:r>
            <a:endParaRPr lang="en-US" sz="1500" dirty="0"/>
          </a:p>
          <a:p>
            <a:pPr marL="254000" indent="-254000">
              <a:lnSpc>
                <a:spcPct val="125000"/>
              </a:lnSpc>
              <a:buSzPct val="100000"/>
              <a:buChar char="●"/>
            </a:pPr>
            <a:r>
              <a:rPr lang="en-US" sz="1500" dirty="0">
                <a:solidFill>
                  <a:srgbClr val="1A1A1A"/>
                </a:solidFill>
                <a:latin typeface="Segoe UI" pitchFamily="34" charset="0"/>
                <a:ea typeface="Segoe UI" pitchFamily="34" charset="-122"/>
                <a:cs typeface="Segoe UI" pitchFamily="34" charset="-120"/>
              </a:rPr>
              <a:t>Production v34 smoke passed; zero trailing-window exceptions is not a soak test or proof of complete distributed tracing</a:t>
            </a:r>
            <a:endParaRPr lang="en-US" sz="1500" dirty="0"/>
          </a:p>
        </p:txBody>
      </p:sp>
      <p:sp>
        <p:nvSpPr>
          <p:cNvPr id="8" name="Shape 5"/>
          <p:cNvSpPr/>
          <p:nvPr/>
        </p:nvSpPr>
        <p:spPr>
          <a:xfrm>
            <a:off x="0" y="6784848"/>
            <a:ext cx="12188952" cy="27432"/>
          </a:xfrm>
          <a:prstGeom prst="rect">
            <a:avLst/>
          </a:prstGeom>
          <a:solidFill>
            <a:srgbClr val="E1E5E8"/>
          </a:solidFill>
          <a:ln/>
        </p:spPr>
      </p:sp>
      <p:sp>
        <p:nvSpPr>
          <p:cNvPr id="9" name="Text 6"/>
          <p:cNvSpPr/>
          <p:nvPr/>
        </p:nvSpPr>
        <p:spPr>
          <a:xfrm>
            <a:off x="457200" y="6537960"/>
            <a:ext cx="8229600" cy="256032"/>
          </a:xfrm>
          <a:prstGeom prst="rect">
            <a:avLst/>
          </a:prstGeom>
          <a:noFill/>
          <a:ln/>
        </p:spPr>
        <p:txBody>
          <a:bodyPr wrap="square" rtlCol="0" anchor="ctr"/>
          <a:lstStyle/>
          <a:p>
            <a:pPr indent="0" marL="0">
              <a:buNone/>
            </a:pPr>
            <a:r>
              <a:rPr lang="en-US" sz="900" dirty="0">
                <a:solidFill>
                  <a:srgbClr val="767676"/>
                </a:solidFill>
                <a:latin typeface="Segoe UI" pitchFamily="34" charset="0"/>
                <a:ea typeface="Segoe UI" pitchFamily="34" charset="-122"/>
                <a:cs typeface="Segoe UI" pitchFamily="34" charset="-120"/>
              </a:rPr>
              <a:t>Foundry Hosted Agents Workshop</a:t>
            </a:r>
            <a:endParaRPr lang="en-US" sz="900" dirty="0"/>
          </a:p>
        </p:txBody>
      </p:sp>
      <p:sp>
        <p:nvSpPr>
          <p:cNvPr id="10" name="Text 7"/>
          <p:cNvSpPr/>
          <p:nvPr/>
        </p:nvSpPr>
        <p:spPr>
          <a:xfrm>
            <a:off x="11338560" y="6528816"/>
            <a:ext cx="548640" cy="219456"/>
          </a:xfrm>
          <a:prstGeom prst="rect">
            <a:avLst/>
          </a:prstGeom>
          <a:noFill/>
          <a:ln/>
        </p:spPr>
        <p:txBody>
          <a:bodyPr wrap="square" rtlCol="0" anchor="ctr"/>
          <a:lstStyle/>
          <a:p>
            <a:pPr algn="r" indent="0" marL="0">
              <a:buNone/>
            </a:pPr>
            <a:r>
              <a:rPr lang="en-US" sz="900" dirty="0">
                <a:solidFill>
                  <a:srgbClr val="767676"/>
                </a:solidFill>
              </a:rPr>
              <a:t>14 / 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2026-09-08T02:46:03Z</dcterms:created>
  <dcterms:modified xsi:type="dcterms:W3CDTF">2026-09-08T02:46:03Z</dcterms:modified>
</cp:coreProperties>
</file>